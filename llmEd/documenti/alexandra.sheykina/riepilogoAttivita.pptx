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3"/>
  </p:notesMasterIdLst>
  <p:sldIdLst>
    <p:sldId id="321" r:id="rId2"/>
  </p:sldIdLst>
  <p:sldSz cx="9144000" cy="5143500" type="screen16x9"/>
  <p:notesSz cx="6858000" cy="9144000"/>
  <p:embeddedFontLst>
    <p:embeddedFont>
      <p:font typeface="IBM Plex Mono" panose="020B0509050203000203" pitchFamily="49" charset="77"/>
      <p:regular r:id="rId4"/>
      <p:bold r:id="rId5"/>
      <p:italic r:id="rId6"/>
      <p:boldItalic r:id="rId7"/>
    </p:embeddedFont>
    <p:embeddedFont>
      <p:font typeface="Open Sans" panose="020B0606030504020204" pitchFamily="34" charset="0"/>
      <p:regular r:id="rId8"/>
      <p:bold r:id="rId9"/>
      <p:italic r:id="rId10"/>
      <p:boldItalic r:id="rId11"/>
    </p:embeddedFont>
    <p:embeddedFont>
      <p:font typeface="Poppins" pitchFamily="2" charset="77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18C4401-5542-4C62-A921-B47E95205850}">
  <a:tblStyle styleId="{F18C4401-5542-4C62-A921-B47E952058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86418"/>
  </p:normalViewPr>
  <p:slideViewPr>
    <p:cSldViewPr snapToGrid="0" snapToObjects="1">
      <p:cViewPr varScale="1">
        <p:scale>
          <a:sx n="143" d="100"/>
          <a:sy n="143" d="100"/>
        </p:scale>
        <p:origin x="208" y="20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23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font" Target="fonts/font7.fntdata"/><Relationship Id="rId11" Type="http://schemas.openxmlformats.org/officeDocument/2006/relationships/font" Target="fonts/font8.fntdata"/><Relationship Id="rId12" Type="http://schemas.openxmlformats.org/officeDocument/2006/relationships/font" Target="fonts/font9.fntdata"/><Relationship Id="rId13" Type="http://schemas.openxmlformats.org/officeDocument/2006/relationships/font" Target="fonts/font10.fntdata"/><Relationship Id="rId14" Type="http://schemas.openxmlformats.org/officeDocument/2006/relationships/font" Target="fonts/font11.fntdata"/><Relationship Id="rId15" Type="http://schemas.openxmlformats.org/officeDocument/2006/relationships/font" Target="fonts/font12.fntdata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g24ed99bf1a4_0_9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0" name="Google Shape;1840;g24ed99bf1a4_0_9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202457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9"/>
          <p:cNvSpPr txBox="1">
            <a:spLocks noGrp="1"/>
          </p:cNvSpPr>
          <p:nvPr>
            <p:ph type="title"/>
          </p:nvPr>
        </p:nvSpPr>
        <p:spPr>
          <a:xfrm>
            <a:off x="720000" y="919750"/>
            <a:ext cx="3145200" cy="140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9"/>
          <p:cNvSpPr txBox="1">
            <a:spLocks noGrp="1"/>
          </p:cNvSpPr>
          <p:nvPr>
            <p:ph type="subTitle" idx="1"/>
          </p:nvPr>
        </p:nvSpPr>
        <p:spPr>
          <a:xfrm>
            <a:off x="720000" y="2628350"/>
            <a:ext cx="3145200" cy="15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378" name="Google Shape;378;p9"/>
          <p:cNvSpPr>
            <a:spLocks noGrp="1"/>
          </p:cNvSpPr>
          <p:nvPr>
            <p:ph type="pic" idx="2"/>
          </p:nvPr>
        </p:nvSpPr>
        <p:spPr>
          <a:xfrm>
            <a:off x="4135800" y="539500"/>
            <a:ext cx="4295100" cy="40692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379" name="Google Shape;379;p9"/>
          <p:cNvGrpSpPr/>
          <p:nvPr/>
        </p:nvGrpSpPr>
        <p:grpSpPr>
          <a:xfrm>
            <a:off x="-2393465" y="-1635538"/>
            <a:ext cx="4710415" cy="5344655"/>
            <a:chOff x="-2317265" y="-1559338"/>
            <a:chExt cx="4710415" cy="5344655"/>
          </a:xfrm>
        </p:grpSpPr>
        <p:pic>
          <p:nvPicPr>
            <p:cNvPr id="380" name="Google Shape;380;p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-2317265" y="-1559338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1" name="Google Shape;381;p9"/>
            <p:cNvGrpSpPr/>
            <p:nvPr/>
          </p:nvGrpSpPr>
          <p:grpSpPr>
            <a:xfrm>
              <a:off x="-1322674" y="-1333888"/>
              <a:ext cx="3153315" cy="5119205"/>
              <a:chOff x="6643701" y="816087"/>
              <a:chExt cx="3153315" cy="5119205"/>
            </a:xfrm>
          </p:grpSpPr>
          <p:sp>
            <p:nvSpPr>
              <p:cNvPr id="382" name="Google Shape;382;p9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3" name="Google Shape;383;p9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4" name="Google Shape;384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" name="Google Shape;385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6" name="Google Shape;386;p9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7" name="Google Shape;387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" name="Google Shape;388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9" name="Google Shape;389;p9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390" name="Google Shape;390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" name="Google Shape;391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92" name="Google Shape;392;p9"/>
            <p:cNvGrpSpPr/>
            <p:nvPr/>
          </p:nvGrpSpPr>
          <p:grpSpPr>
            <a:xfrm>
              <a:off x="121568" y="-846844"/>
              <a:ext cx="88151" cy="2151709"/>
              <a:chOff x="3054755" y="4367024"/>
              <a:chExt cx="88142" cy="1137387"/>
            </a:xfrm>
          </p:grpSpPr>
          <p:sp>
            <p:nvSpPr>
              <p:cNvPr id="393" name="Google Shape;393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5" name="Google Shape;395;p9"/>
            <p:cNvGrpSpPr/>
            <p:nvPr/>
          </p:nvGrpSpPr>
          <p:grpSpPr>
            <a:xfrm>
              <a:off x="361243" y="-718832"/>
              <a:ext cx="88151" cy="2151709"/>
              <a:chOff x="3054755" y="4367024"/>
              <a:chExt cx="88142" cy="1137387"/>
            </a:xfrm>
          </p:grpSpPr>
          <p:sp>
            <p:nvSpPr>
              <p:cNvPr id="396" name="Google Shape;396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98" name="Google Shape;398;p9"/>
            <p:cNvSpPr/>
            <p:nvPr/>
          </p:nvSpPr>
          <p:spPr>
            <a:xfrm rot="5400000">
              <a:off x="501466" y="-1277128"/>
              <a:ext cx="1031181" cy="275218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9" name="Google Shape;399;p9"/>
            <p:cNvGrpSpPr/>
            <p:nvPr/>
          </p:nvGrpSpPr>
          <p:grpSpPr>
            <a:xfrm>
              <a:off x="-175967" y="337269"/>
              <a:ext cx="480890" cy="481200"/>
              <a:chOff x="959750" y="3039275"/>
              <a:chExt cx="582050" cy="582425"/>
            </a:xfrm>
          </p:grpSpPr>
          <p:sp>
            <p:nvSpPr>
              <p:cNvPr id="400" name="Google Shape;400;p9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9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9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7" name="Google Shape;407;p9"/>
          <p:cNvGrpSpPr/>
          <p:nvPr/>
        </p:nvGrpSpPr>
        <p:grpSpPr>
          <a:xfrm>
            <a:off x="6719910" y="2898312"/>
            <a:ext cx="3920501" cy="3213899"/>
            <a:chOff x="6643710" y="2822113"/>
            <a:chExt cx="3920501" cy="3213899"/>
          </a:xfrm>
        </p:grpSpPr>
        <p:sp>
          <p:nvSpPr>
            <p:cNvPr id="408" name="Google Shape;408;p9"/>
            <p:cNvSpPr/>
            <p:nvPr/>
          </p:nvSpPr>
          <p:spPr>
            <a:xfrm>
              <a:off x="8764950" y="2822113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09" name="Google Shape;409;p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0" name="Google Shape;410;p9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411" name="Google Shape;411;p9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" name="Google Shape;414;p9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415" name="Google Shape;415;p9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9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18" name="Google Shape;418;p9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9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0" name="Google Shape;420;p9"/>
          <p:cNvGrpSpPr/>
          <p:nvPr/>
        </p:nvGrpSpPr>
        <p:grpSpPr>
          <a:xfrm>
            <a:off x="-1953175" y="4816451"/>
            <a:ext cx="4558967" cy="134100"/>
            <a:chOff x="796100" y="3019701"/>
            <a:chExt cx="4558967" cy="134100"/>
          </a:xfrm>
        </p:grpSpPr>
        <p:sp>
          <p:nvSpPr>
            <p:cNvPr id="421" name="Google Shape;421;p9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22" name="Google Shape;422;p9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23" name="Google Shape;423;p9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0" name="Google Shape;1340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1" name="Google Shape;1341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2" name="Google Shape;1342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6" name="Google Shape;1346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7" name="Google Shape;1347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8" name="Google Shape;1348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9" name="Google Shape;1349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0" name="Google Shape;1350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51" name="Google Shape;1351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2" name="Google Shape;1352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3" name="Google Shape;1353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4" name="Google Shape;1354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6" name="Google Shape;1356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7" name="Google Shape;1357;p3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9" name="Google Shape;1359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60" name="Google Shape;1360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7" name="Google Shape;1367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8" name="Google Shape;1368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5" name="Google Shape;1375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6" name="Google Shape;1376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9" name="Google Shape;1379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80" name="Google Shape;138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1" name="Google Shape;1381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2" name="Google Shape;1382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3" name="Google Shape;1383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4" name="Google Shape;1384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5" name="Google Shape;1385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86" name="Google Shape;1386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7" name="Google Shape;1387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90" name="Google Shape;139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1" name="Google Shape;1391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2" name="Google Shape;1392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3" name="Google Shape;1393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4" name="Google Shape;1394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0" name="Google Shape;1400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1" name="Google Shape;1401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2" name="Google Shape;1402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8" name="Google Shape;1408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9" name="Google Shape;1409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10" name="Google Shape;1410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6" name="Google Shape;1416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7" name="Google Shape;1417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8" name="Google Shape;1418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9" name="Google Shape;1419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20" name="Google Shape;1420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8" r:id="rId2"/>
    <p:sldLayoutId id="2147483676" r:id="rId3"/>
    <p:sldLayoutId id="214748367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4" name="Google Shape;1844;p46"/>
          <p:cNvGrpSpPr/>
          <p:nvPr/>
        </p:nvGrpSpPr>
        <p:grpSpPr>
          <a:xfrm>
            <a:off x="-74792" y="1766169"/>
            <a:ext cx="480890" cy="481200"/>
            <a:chOff x="959750" y="3039275"/>
            <a:chExt cx="582050" cy="582425"/>
          </a:xfrm>
        </p:grpSpPr>
        <p:sp>
          <p:nvSpPr>
            <p:cNvPr id="1845" name="Google Shape;1845;p46"/>
            <p:cNvSpPr/>
            <p:nvPr/>
          </p:nvSpPr>
          <p:spPr>
            <a:xfrm>
              <a:off x="959750" y="3498275"/>
              <a:ext cx="123450" cy="123425"/>
            </a:xfrm>
            <a:custGeom>
              <a:avLst/>
              <a:gdLst/>
              <a:ahLst/>
              <a:cxnLst/>
              <a:rect l="l" t="t" r="r" b="b"/>
              <a:pathLst>
                <a:path w="4938" h="4937" extrusionOk="0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46"/>
            <p:cNvSpPr/>
            <p:nvPr/>
          </p:nvSpPr>
          <p:spPr>
            <a:xfrm>
              <a:off x="1035950" y="3421700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46"/>
            <p:cNvSpPr/>
            <p:nvPr/>
          </p:nvSpPr>
          <p:spPr>
            <a:xfrm>
              <a:off x="1112500" y="3345525"/>
              <a:ext cx="123825" cy="123450"/>
            </a:xfrm>
            <a:custGeom>
              <a:avLst/>
              <a:gdLst/>
              <a:ahLst/>
              <a:cxnLst/>
              <a:rect l="l" t="t" r="r" b="b"/>
              <a:pathLst>
                <a:path w="4953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46"/>
            <p:cNvSpPr/>
            <p:nvPr/>
          </p:nvSpPr>
          <p:spPr>
            <a:xfrm>
              <a:off x="1188675" y="3268975"/>
              <a:ext cx="123825" cy="123425"/>
            </a:xfrm>
            <a:custGeom>
              <a:avLst/>
              <a:gdLst/>
              <a:ahLst/>
              <a:cxnLst/>
              <a:rect l="l" t="t" r="r" b="b"/>
              <a:pathLst>
                <a:path w="4953" h="4937" extrusionOk="0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6"/>
            <p:cNvSpPr/>
            <p:nvPr/>
          </p:nvSpPr>
          <p:spPr>
            <a:xfrm>
              <a:off x="1265625" y="3192800"/>
              <a:ext cx="123425" cy="123425"/>
            </a:xfrm>
            <a:custGeom>
              <a:avLst/>
              <a:gdLst/>
              <a:ahLst/>
              <a:cxnLst/>
              <a:rect l="l" t="t" r="r" b="b"/>
              <a:pathLst>
                <a:path w="4937" h="4937" extrusionOk="0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46"/>
            <p:cNvSpPr/>
            <p:nvPr/>
          </p:nvSpPr>
          <p:spPr>
            <a:xfrm>
              <a:off x="1341800" y="3116225"/>
              <a:ext cx="123450" cy="123450"/>
            </a:xfrm>
            <a:custGeom>
              <a:avLst/>
              <a:gdLst/>
              <a:ahLst/>
              <a:cxnLst/>
              <a:rect l="l" t="t" r="r" b="b"/>
              <a:pathLst>
                <a:path w="4938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46"/>
            <p:cNvSpPr/>
            <p:nvPr/>
          </p:nvSpPr>
          <p:spPr>
            <a:xfrm>
              <a:off x="1418375" y="3039275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" name="Google Shape;1842;p46">
            <a:extLst>
              <a:ext uri="{FF2B5EF4-FFF2-40B4-BE49-F238E27FC236}">
                <a16:creationId xmlns:a16="http://schemas.microsoft.com/office/drawing/2014/main" id="{2D650376-B8C4-444D-B305-F6037199A00F}"/>
              </a:ext>
            </a:extLst>
          </p:cNvPr>
          <p:cNvSpPr txBox="1">
            <a:spLocks/>
          </p:cNvSpPr>
          <p:nvPr/>
        </p:nvSpPr>
        <p:spPr>
          <a:xfrm>
            <a:off x="720000" y="305041"/>
            <a:ext cx="6439625" cy="583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rPr lang="it-IT" dirty="0"/>
              <a:t>RIEPILOGO ATTIVITÀ 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65AFB7E8-CAC4-B04F-943E-1D021706CB1C}"/>
              </a:ext>
            </a:extLst>
          </p:cNvPr>
          <p:cNvSpPr txBox="1"/>
          <p:nvPr/>
        </p:nvSpPr>
        <p:spPr>
          <a:xfrm>
            <a:off x="406098" y="769595"/>
            <a:ext cx="82170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Tx/>
              <a:defRPr/>
            </a:pPr>
            <a:endParaRPr lang="it-IT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1852" name="Table 1851"/>
          <p:cNvGraphicFramePr>
            <a:graphicFrameLocks noGrp="1"/>
          </p:cNvGraphicFramePr>
          <p:nvPr/>
        </p:nvGraphicFramePr>
        <p:xfrm>
          <a:off x="228600" y="1188720"/>
          <a:ext cx="8686800" cy="3559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3657600"/>
              </a:tblGrid>
              <a:tr h="429768">
                <a:tc>
                  <a:txBody>
                    <a:bodyPr/>
                    <a:lstStyle/>
                    <a:p>
                      <a:r>
                        <a:t>Attività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Durata/Setting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Adattamento BES</a:t>
                      </a:r>
                    </a:p>
                  </a:txBody>
                  <a:tcPr/>
                </a:tc>
              </a:tr>
              <a:tr h="391160">
                <a:tc>
                  <a:txBody>
                    <a:bodyPr/>
                    <a:lstStyle/>
                    <a:p>
                      <a:r>
                        <a:t>Verifica orale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 minuti /Aula con LIM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Verifica orale anziché scritta per BES, utilizzo di domande semplificate.</a:t>
                      </a:r>
                    </a:p>
                  </a:txBody>
                  <a:tcPr/>
                </a:tc>
              </a:tr>
              <a:tr h="391160">
                <a:tc>
                  <a:txBody>
                    <a:bodyPr/>
                    <a:lstStyle/>
                    <a:p>
                      <a:r>
                        <a:t>Lezione Frontale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 minuti /Aula con LIM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Utilizzo di materiali semplificati per BES, mappe concettuali.</a:t>
                      </a:r>
                    </a:p>
                  </a:txBody>
                  <a:tcPr/>
                </a:tc>
              </a:tr>
              <a:tr h="391160">
                <a:tc>
                  <a:txBody>
                    <a:bodyPr/>
                    <a:lstStyle/>
                    <a:p>
                      <a:r>
                        <a:t>Laboratorio pratico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 minuti /Laboratorio di informatica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Supporto aggiuntivo da parte del docente per BES, software di supporto.</a:t>
                      </a:r>
                    </a:p>
                  </a:txBody>
                  <a:tcPr/>
                </a:tc>
              </a:tr>
              <a:tr h="391160">
                <a:tc>
                  <a:txBody>
                    <a:bodyPr/>
                    <a:lstStyle/>
                    <a:p>
                      <a:r>
                        <a:t>Problem Solving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 minuti /Laboratorio di informatica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Mappe concettuali e appunti strutturati per BES.</a:t>
                      </a:r>
                    </a:p>
                  </a:txBody>
                  <a:tcPr/>
                </a:tc>
              </a:tr>
              <a:tr h="391160">
                <a:tc>
                  <a:txBody>
                    <a:bodyPr/>
                    <a:lstStyle/>
                    <a:p>
                      <a:r>
                        <a:t>Cooperative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 minuti /Laboratorio di informatica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Supporto da parte del docente e divisione dei compiti per BES.</a:t>
                      </a:r>
                    </a:p>
                  </a:txBody>
                  <a:tcPr/>
                </a:tc>
              </a:tr>
              <a:tr h="391160">
                <a:tc>
                  <a:txBody>
                    <a:bodyPr/>
                    <a:lstStyle/>
                    <a:p>
                      <a:r>
                        <a:t>Discussione guidata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 minuti /Aula con LIM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Discussione semplificata per BES, utilizzo di mappe concettuali.</a:t>
                      </a:r>
                    </a:p>
                  </a:txBody>
                  <a:tcPr/>
                </a:tc>
              </a:tr>
              <a:tr h="391160">
                <a:tc>
                  <a:txBody>
                    <a:bodyPr/>
                    <a:lstStyle/>
                    <a:p>
                      <a:r>
                        <a:t>Verifica scritta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 minuti /Aula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Tempi aggiuntivi e verifica orale anziché scritta per BES.</a:t>
                      </a:r>
                    </a:p>
                  </a:txBody>
                  <a:tcPr/>
                </a:tc>
              </a:tr>
              <a:tr h="391160">
                <a:tc>
                  <a:txBody>
                    <a:bodyPr/>
                    <a:lstStyle/>
                    <a:p>
                      <a:r>
                        <a:t>Verifica orale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 minuti /Aula con LIM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Domande semplificate e supporto visivo per BES.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2273104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2827</TotalTime>
  <Words>18</Words>
  <Application>Microsoft Macintosh PowerPoint</Application>
  <PresentationFormat>Presentazione su schermo (16:9)</PresentationFormat>
  <Paragraphs>2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6" baseType="lpstr">
      <vt:lpstr>Open Sans</vt:lpstr>
      <vt:lpstr>IBM Plex Mono</vt:lpstr>
      <vt:lpstr>Arial</vt:lpstr>
      <vt:lpstr>Poppins</vt:lpstr>
      <vt:lpstr>Introduction to Coding Workshop by Slidesgo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&lt;#titolo#&gt;</dc:title>
  <cp:lastModifiedBy>Microsoft Office User</cp:lastModifiedBy>
  <cp:revision>173</cp:revision>
  <dcterms:modified xsi:type="dcterms:W3CDTF">2025-02-10T18:03:31Z</dcterms:modified>
</cp:coreProperties>
</file>