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5"/>
  </p:notesMasterIdLst>
  <p:sldIdLst>
    <p:sldId id="256" r:id="rId2"/>
    <p:sldId id="258" r:id="rId3"/>
    <p:sldId id="259" r:id="rId4"/>
    <p:sldId id="262" r:id="rId5"/>
    <p:sldId id="311" r:id="rId6"/>
    <p:sldId id="309" r:id="rId7"/>
    <p:sldId id="351" r:id="rId8"/>
    <p:sldId id="312" r:id="rId9"/>
    <p:sldId id="307" r:id="rId10"/>
    <p:sldId id="314" r:id="rId11"/>
    <p:sldId id="349" r:id="rId12"/>
    <p:sldId id="315" r:id="rId13"/>
    <p:sldId id="355" r:id="rId48"/>
    <p:sldId id="356" r:id="rId49"/>
    <p:sldId id="357" r:id="rId50"/>
    <p:sldId id="358" r:id="rId51"/>
    <p:sldId id="352" r:id="rId15"/>
    <p:sldId id="359" r:id="rId14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81" r:id="rId73"/>
    <p:sldId id="382" r:id="rId74"/>
    <p:sldId id="383" r:id="rId19"/>
    <p:sldId id="308" r:id="rId18"/>
    <p:sldId id="329" r:id="rId20"/>
    <p:sldId id="324" r:id="rId21"/>
    <p:sldId id="350" r:id="rId22"/>
    <p:sldId id="354" r:id="rId23"/>
    <p:sldId id="270" r:id="rId24"/>
  </p:sldIdLst>
  <p:sldSz cx="9144000" cy="5143500" type="screen16x9"/>
  <p:notesSz cx="6858000" cy="9144000"/>
  <p:embeddedFontLst>
    <p:embeddedFont>
      <p:font typeface="Poppins" charset="0"/>
      <p:regular r:id="rId26"/>
      <p:bold r:id="rId27"/>
      <p:italic r:id="rId28"/>
      <p:boldItalic r:id="rId29"/>
    </p:embeddedFont>
    <p:embeddedFont>
      <p:font typeface="IBM Plex Mono" charset="0"/>
      <p:regular r:id="rId30"/>
      <p:bold r:id="rId31"/>
      <p:italic r:id="rId32"/>
      <p:boldItalic r:id="rId33"/>
    </p:embeddedFont>
    <p:embeddedFont>
      <p:font typeface="Source Code Pro" charset="0"/>
      <p:regular r:id="rId34"/>
      <p:bold r:id="rId35"/>
      <p:italic r:id="rId36"/>
      <p:boldItalic r:id="rId37"/>
    </p:embeddedFont>
    <p:embeddedFont>
      <p:font typeface="Tahoma" pitchFamily="34" charset="0"/>
      <p:regular r:id="rId38"/>
      <p:bold r:id="rId39"/>
    </p:embeddedFont>
    <p:embeddedFont>
      <p:font typeface="Open Sans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F"/>
    <a:srgbClr val="FFEFFF"/>
    <a:srgbClr val="FFFBFF"/>
    <a:srgbClr val="FFE7FF"/>
    <a:srgbClr val="FFCCFF"/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779" autoAdjust="0"/>
    <p:restoredTop sz="86418"/>
  </p:normalViewPr>
  <p:slideViewPr>
    <p:cSldViewPr snapToGrid="0" snapToObjects="1">
      <p:cViewPr>
        <p:scale>
          <a:sx n="100" d="100"/>
          <a:sy n="100" d="100"/>
        </p:scale>
        <p:origin x="-462" y="-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8.xml"/><Relationship Id="rId15" Type="http://schemas.openxmlformats.org/officeDocument/2006/relationships/slide" Target="slides/slide17.xml"/><Relationship Id="rId18" Type="http://schemas.openxmlformats.org/officeDocument/2006/relationships/slide" Target="slides/slide43.xml"/><Relationship Id="rId19" Type="http://schemas.openxmlformats.org/officeDocument/2006/relationships/slide" Target="slides/slide42.xml"/><Relationship Id="rId20" Type="http://schemas.openxmlformats.org/officeDocument/2006/relationships/slide" Target="slides/slide44.xml"/><Relationship Id="rId21" Type="http://schemas.openxmlformats.org/officeDocument/2006/relationships/slide" Target="slides/slide45.xml"/><Relationship Id="rId22" Type="http://schemas.openxmlformats.org/officeDocument/2006/relationships/slide" Target="slides/slide46.xml"/><Relationship Id="rId23" Type="http://schemas.openxmlformats.org/officeDocument/2006/relationships/slide" Target="slides/slide47.xml"/><Relationship Id="rId24" Type="http://schemas.openxmlformats.org/officeDocument/2006/relationships/slide" Target="slides/slide48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font" Target="fonts/font9.fntdata"/><Relationship Id="rId35" Type="http://schemas.openxmlformats.org/officeDocument/2006/relationships/font" Target="fonts/font10.fntdata"/><Relationship Id="rId36" Type="http://schemas.openxmlformats.org/officeDocument/2006/relationships/font" Target="fonts/font11.fntdata"/><Relationship Id="rId37" Type="http://schemas.openxmlformats.org/officeDocument/2006/relationships/font" Target="fonts/font12.fntdata"/><Relationship Id="rId38" Type="http://schemas.openxmlformats.org/officeDocument/2006/relationships/font" Target="fonts/font13.fntdata"/><Relationship Id="rId39" Type="http://schemas.openxmlformats.org/officeDocument/2006/relationships/font" Target="fonts/font14.fntdata"/><Relationship Id="rId40" Type="http://schemas.openxmlformats.org/officeDocument/2006/relationships/font" Target="fonts/font15.fntdata"/><Relationship Id="rId41" Type="http://schemas.openxmlformats.org/officeDocument/2006/relationships/font" Target="fonts/font16.fntdata"/><Relationship Id="rId42" Type="http://schemas.openxmlformats.org/officeDocument/2006/relationships/font" Target="fonts/font17.fntdata"/><Relationship Id="rId43" Type="http://schemas.openxmlformats.org/officeDocument/2006/relationships/font" Target="fonts/font18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13.xml"/><Relationship Id="rId49" Type="http://schemas.openxmlformats.org/officeDocument/2006/relationships/slide" Target="slides/slide14.xml"/><Relationship Id="rId50" Type="http://schemas.openxmlformats.org/officeDocument/2006/relationships/slide" Target="slides/slide15.xml"/><Relationship Id="rId51" Type="http://schemas.openxmlformats.org/officeDocument/2006/relationships/slide" Target="slides/slide16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22.xml"/><Relationship Id="rId56" Type="http://schemas.openxmlformats.org/officeDocument/2006/relationships/slide" Target="slides/slide23.xml"/><Relationship Id="rId57" Type="http://schemas.openxmlformats.org/officeDocument/2006/relationships/slide" Target="slides/slide24.xml"/><Relationship Id="rId58" Type="http://schemas.openxmlformats.org/officeDocument/2006/relationships/slide" Target="slides/slide25.xml"/><Relationship Id="rId59" Type="http://schemas.openxmlformats.org/officeDocument/2006/relationships/slide" Target="slides/slide26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38.xml"/><Relationship Id="rId72" Type="http://schemas.openxmlformats.org/officeDocument/2006/relationships/slide" Target="slides/slide39.xml"/><Relationship Id="rId73" Type="http://schemas.openxmlformats.org/officeDocument/2006/relationships/slide" Target="slides/slide40.xml"/><Relationship Id="rId74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0384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4839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9536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13042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745402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2842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2842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198354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22825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782880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781305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843017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406390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95364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8953032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79" name="Google Shape;979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l="16960" t="24718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2485208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2" r:id="rId7"/>
    <p:sldLayoutId id="2147483665" r:id="rId8"/>
    <p:sldLayoutId id="2147483669" r:id="rId9"/>
    <p:sldLayoutId id="2147483670" r:id="rId10"/>
    <p:sldLayoutId id="2147483676" r:id="rId11"/>
    <p:sldLayoutId id="2147483677" r:id="rId12"/>
    <p:sldLayoutId id="214748368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  <a:endParaRPr dirty="0"/>
          </a:p>
        </p:txBody>
      </p: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1547350"/>
            <a:ext cx="6974700" cy="1595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23C2"/>
                </a:solidFill>
              </a:defRPr>
            </a:pPr>
            <a:r>
              <a:t>Access Point: Utilizzo e Configurazione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431;p35"/>
          <p:cNvSpPr txBox="1">
            <a:spLocks/>
          </p:cNvSpPr>
          <p:nvPr/>
        </p:nvSpPr>
        <p:spPr>
          <a:xfrm>
            <a:off x="4689899" y="4566832"/>
            <a:ext cx="257890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t>2025/2026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1673;p42"/>
          <p:cNvSpPr txBox="1">
            <a:spLocks/>
          </p:cNvSpPr>
          <p:nvPr/>
        </p:nvSpPr>
        <p:spPr>
          <a:xfrm>
            <a:off x="2650602" y="4603582"/>
            <a:ext cx="2248861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Anno scolastico</a:t>
            </a:r>
            <a:r>
              <a:rPr kumimoji="0" lang="it-IT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31;p35"/>
          <p:cNvSpPr txBox="1">
            <a:spLocks/>
          </p:cNvSpPr>
          <p:nvPr/>
        </p:nvSpPr>
        <p:spPr>
          <a:xfrm>
            <a:off x="1476235" y="312516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t>Istituto Tecnico Settore Tecnologico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1673;p42"/>
          <p:cNvSpPr txBox="1">
            <a:spLocks/>
          </p:cNvSpPr>
          <p:nvPr/>
        </p:nvSpPr>
        <p:spPr>
          <a:xfrm>
            <a:off x="2661960" y="4305457"/>
            <a:ext cx="128500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Disciplina: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431;p35"/>
          <p:cNvSpPr txBox="1">
            <a:spLocks/>
          </p:cNvSpPr>
          <p:nvPr/>
        </p:nvSpPr>
        <p:spPr>
          <a:xfrm>
            <a:off x="3713969" y="4270732"/>
            <a:ext cx="504806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t>Sistemi e reti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1431;p35"/>
          <p:cNvSpPr txBox="1">
            <a:spLocks/>
          </p:cNvSpPr>
          <p:nvPr/>
        </p:nvSpPr>
        <p:spPr>
          <a:xfrm>
            <a:off x="1372726" y="65012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t>Informatica e Telecomunicazioni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1431;p35"/>
          <p:cNvSpPr txBox="1">
            <a:spLocks/>
          </p:cNvSpPr>
          <p:nvPr/>
        </p:nvSpPr>
        <p:spPr>
          <a:xfrm>
            <a:off x="1386226" y="95747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t>Informatica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6000"/>
          </a:schemeClr>
        </a:solidFill>
        <a:effectLst/>
      </p:bgPr>
    </p:bg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Agenda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8" name="Google Shape;1468;p37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introduttiva</a:t>
            </a:r>
            <a:endParaRPr dirty="0"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6"/>
          </p:nvPr>
        </p:nvSpPr>
        <p:spPr>
          <a:xfrm>
            <a:off x="720003" y="3666609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7"/>
          </p:nvPr>
        </p:nvSpPr>
        <p:spPr>
          <a:xfrm>
            <a:off x="720000" y="2456607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3"/>
          </p:nvPr>
        </p:nvSpPr>
        <p:spPr>
          <a:xfrm>
            <a:off x="720000" y="3030507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esecutiva</a:t>
            </a:r>
            <a:endParaRPr dirty="0"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4"/>
          </p:nvPr>
        </p:nvSpPr>
        <p:spPr>
          <a:xfrm>
            <a:off x="720000" y="4240439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conclusiva</a:t>
            </a:r>
            <a:endParaRPr dirty="0"/>
          </a:p>
        </p:txBody>
      </p:sp>
      <p:sp>
        <p:nvSpPr>
          <p:cNvPr id="31" name="CasellaDiTesto 30">
            <a:extLst>
              <a:ext uri="{FF2B5EF4-FFF2-40B4-BE49-F238E27FC236}">
                <a16:creationId xmlns="" xmlns:a16="http://schemas.microsoft.com/office/drawing/2014/main" id="{8083549E-2999-A64C-9F24-D7CD55EC4C21}"/>
              </a:ext>
            </a:extLst>
          </p:cNvPr>
          <p:cNvSpPr txBox="1"/>
          <p:nvPr/>
        </p:nvSpPr>
        <p:spPr>
          <a:xfrm>
            <a:off x="4267200" y="4647552"/>
            <a:ext cx="438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br>
              <a:rPr lang="en" dirty="0"/>
            </a:br>
            <a:endParaRPr lang="en"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8548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23C2"/>
                </a:solidFill>
              </a:defRPr>
            </a:pPr>
            <a:r>
              <a:t>Access Point: Utilizzo e Configurazione</a:t>
            </a:r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="" xmlns:a16="http://schemas.microsoft.com/office/drawing/2014/main" id="{B4BE4160-CD52-FE40-864F-FD9DC8AC5FFF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introduttiva</a:t>
            </a:r>
            <a:endParaRPr sz="1800" dirty="0"/>
          </a:p>
        </p:txBody>
      </p:sp>
      <p:sp>
        <p:nvSpPr>
          <p:cNvPr id="48" name="CasellaDiTesto 47">
            <a:extLst>
              <a:ext uri="{FF2B5EF4-FFF2-40B4-BE49-F238E27FC236}">
                <a16:creationId xmlns="" xmlns:a16="http://schemas.microsoft.com/office/drawing/2014/main" id="{DFF3146E-13F1-CB47-96D0-907EFF918D9B}"/>
              </a:ext>
            </a:extLst>
          </p:cNvPr>
          <p:cNvSpPr txBox="1"/>
          <p:nvPr/>
        </p:nvSpPr>
        <p:spPr>
          <a:xfrm>
            <a:off x="5409313" y="3759313"/>
            <a:ext cx="1869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Destinatari</a:t>
            </a:r>
            <a:endParaRPr dirty="0"/>
          </a:p>
        </p:txBody>
      </p:sp>
      <p:sp>
        <p:nvSpPr>
          <p:cNvPr id="1637" name="Google Shape;1637;p41"/>
          <p:cNvSpPr txBox="1">
            <a:spLocks noGrp="1"/>
          </p:cNvSpPr>
          <p:nvPr>
            <p:ph type="subTitle" idx="2"/>
          </p:nvPr>
        </p:nvSpPr>
        <p:spPr>
          <a:xfrm>
            <a:off x="556229" y="2249638"/>
            <a:ext cx="2485395" cy="474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Istituto Tecnico Settore Tecnologico</a:t>
            </a: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" name="Google Shape;14207;p84">
            <a:extLst>
              <a:ext uri="{FF2B5EF4-FFF2-40B4-BE49-F238E27FC236}">
                <a16:creationId xmlns="" xmlns:a16="http://schemas.microsoft.com/office/drawing/2014/main" id="{2D3B81BB-B0A8-B045-A3B9-61A273D1BDF6}"/>
              </a:ext>
            </a:extLst>
          </p:cNvPr>
          <p:cNvGrpSpPr/>
          <p:nvPr/>
        </p:nvGrpSpPr>
        <p:grpSpPr>
          <a:xfrm>
            <a:off x="989940" y="1191590"/>
            <a:ext cx="913730" cy="657085"/>
            <a:chOff x="1306445" y="3397829"/>
            <a:chExt cx="367255" cy="269855"/>
          </a:xfrm>
          <a:solidFill>
            <a:schemeClr val="tx2"/>
          </a:solidFill>
        </p:grpSpPr>
        <p:sp>
          <p:nvSpPr>
            <p:cNvPr id="31" name="Google Shape;14208;p84">
              <a:extLst>
                <a:ext uri="{FF2B5EF4-FFF2-40B4-BE49-F238E27FC236}">
                  <a16:creationId xmlns="" xmlns:a16="http://schemas.microsoft.com/office/drawing/2014/main" id="{D6E34BCF-9AD6-0A4F-B815-65EDA1F6875D}"/>
                </a:ext>
              </a:extLst>
            </p:cNvPr>
            <p:cNvSpPr/>
            <p:nvPr/>
          </p:nvSpPr>
          <p:spPr>
            <a:xfrm>
              <a:off x="1588395" y="3513054"/>
              <a:ext cx="45517" cy="16297"/>
            </a:xfrm>
            <a:custGeom>
              <a:avLst/>
              <a:gdLst/>
              <a:ahLst/>
              <a:cxnLst/>
              <a:rect l="l" t="t" r="r" b="b"/>
              <a:pathLst>
                <a:path w="1430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2" name="Google Shape;14209;p84">
              <a:extLst>
                <a:ext uri="{FF2B5EF4-FFF2-40B4-BE49-F238E27FC236}">
                  <a16:creationId xmlns="" xmlns:a16="http://schemas.microsoft.com/office/drawing/2014/main" id="{979A256E-7AFB-F943-9F42-B88B0E169250}"/>
                </a:ext>
              </a:extLst>
            </p:cNvPr>
            <p:cNvSpPr/>
            <p:nvPr/>
          </p:nvSpPr>
          <p:spPr>
            <a:xfrm>
              <a:off x="1306445" y="3397829"/>
              <a:ext cx="367255" cy="269091"/>
            </a:xfrm>
            <a:custGeom>
              <a:avLst/>
              <a:gdLst/>
              <a:ahLst/>
              <a:cxnLst/>
              <a:rect l="l" t="t" r="r" b="b"/>
              <a:pathLst>
                <a:path w="11538" h="8454" extrusionOk="0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33" name="Google Shape;14210;p84">
              <a:extLst>
                <a:ext uri="{FF2B5EF4-FFF2-40B4-BE49-F238E27FC236}">
                  <a16:creationId xmlns="" xmlns:a16="http://schemas.microsoft.com/office/drawing/2014/main" id="{49608285-E307-A642-B2C9-20CA1F9D06ED}"/>
                </a:ext>
              </a:extLst>
            </p:cNvPr>
            <p:cNvSpPr/>
            <p:nvPr/>
          </p:nvSpPr>
          <p:spPr>
            <a:xfrm>
              <a:off x="1639960" y="3622549"/>
              <a:ext cx="10631" cy="45135"/>
            </a:xfrm>
            <a:custGeom>
              <a:avLst/>
              <a:gdLst/>
              <a:ahLst/>
              <a:cxnLst/>
              <a:rect l="l" t="t" r="r" b="b"/>
              <a:pathLst>
                <a:path w="334" h="1418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4" name="Google Shape;14211;p84">
              <a:extLst>
                <a:ext uri="{FF2B5EF4-FFF2-40B4-BE49-F238E27FC236}">
                  <a16:creationId xmlns="" xmlns:a16="http://schemas.microsoft.com/office/drawing/2014/main" id="{84F51A8D-549B-E44D-8779-C0A91D88A6EA}"/>
                </a:ext>
              </a:extLst>
            </p:cNvPr>
            <p:cNvSpPr/>
            <p:nvPr/>
          </p:nvSpPr>
          <p:spPr>
            <a:xfrm>
              <a:off x="1444014" y="3446466"/>
              <a:ext cx="91734" cy="30589"/>
            </a:xfrm>
            <a:custGeom>
              <a:avLst/>
              <a:gdLst/>
              <a:ahLst/>
              <a:cxnLst/>
              <a:rect l="l" t="t" r="r" b="b"/>
              <a:pathLst>
                <a:path w="2882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5" name="Google Shape;14212;p84">
              <a:extLst>
                <a:ext uri="{FF2B5EF4-FFF2-40B4-BE49-F238E27FC236}">
                  <a16:creationId xmlns="" xmlns:a16="http://schemas.microsoft.com/office/drawing/2014/main" id="{16CEC141-AEB3-4D44-AB83-954949E9187D}"/>
                </a:ext>
              </a:extLst>
            </p:cNvPr>
            <p:cNvSpPr/>
            <p:nvPr/>
          </p:nvSpPr>
          <p:spPr>
            <a:xfrm>
              <a:off x="142052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6" name="Google Shape;14213;p84">
              <a:extLst>
                <a:ext uri="{FF2B5EF4-FFF2-40B4-BE49-F238E27FC236}">
                  <a16:creationId xmlns="" xmlns:a16="http://schemas.microsoft.com/office/drawing/2014/main" id="{EF514D50-45E9-1C4C-9D45-1E612F9B87AF}"/>
                </a:ext>
              </a:extLst>
            </p:cNvPr>
            <p:cNvSpPr/>
            <p:nvPr/>
          </p:nvSpPr>
          <p:spPr>
            <a:xfrm>
              <a:off x="154749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56" name="Google Shape;1636;p41">
            <a:extLst>
              <a:ext uri="{FF2B5EF4-FFF2-40B4-BE49-F238E27FC236}">
                <a16:creationId xmlns="" xmlns:a16="http://schemas.microsoft.com/office/drawing/2014/main" id="{33ECE9A1-D7C1-D649-A60B-8256F43BEF36}"/>
              </a:ext>
            </a:extLst>
          </p:cNvPr>
          <p:cNvSpPr txBox="1">
            <a:spLocks/>
          </p:cNvSpPr>
          <p:nvPr/>
        </p:nvSpPr>
        <p:spPr>
          <a:xfrm>
            <a:off x="3389968" y="2507272"/>
            <a:ext cx="279488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t>Informatica</a:t>
            </a:r>
          </a:p>
        </p:txBody>
      </p:sp>
      <p:sp>
        <p:nvSpPr>
          <p:cNvPr id="73" name="Google Shape;14318;p84">
            <a:extLst>
              <a:ext uri="{FF2B5EF4-FFF2-40B4-BE49-F238E27FC236}">
                <a16:creationId xmlns="" xmlns:a16="http://schemas.microsoft.com/office/drawing/2014/main" id="{C4156468-B0A7-C54F-85E0-66A96649F4B0}"/>
              </a:ext>
            </a:extLst>
          </p:cNvPr>
          <p:cNvSpPr/>
          <p:nvPr/>
        </p:nvSpPr>
        <p:spPr>
          <a:xfrm>
            <a:off x="6779733" y="1191590"/>
            <a:ext cx="857415" cy="732342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636;p41">
            <a:extLst>
              <a:ext uri="{FF2B5EF4-FFF2-40B4-BE49-F238E27FC236}">
                <a16:creationId xmlns="" xmlns:a16="http://schemas.microsoft.com/office/drawing/2014/main" id="{F91C5482-F6D3-704E-97F6-49D2D48A5585}"/>
              </a:ext>
            </a:extLst>
          </p:cNvPr>
          <p:cNvSpPr txBox="1">
            <a:spLocks/>
          </p:cNvSpPr>
          <p:nvPr/>
        </p:nvSpPr>
        <p:spPr>
          <a:xfrm>
            <a:off x="3388370" y="3510839"/>
            <a:ext cx="234030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t>Sistemi e reti</a:t>
            </a:r>
          </a:p>
        </p:txBody>
      </p:sp>
      <p:sp>
        <p:nvSpPr>
          <p:cNvPr id="80" name="Sottotitolo 6">
            <a:extLst>
              <a:ext uri="{FF2B5EF4-FFF2-40B4-BE49-F238E27FC236}">
                <a16:creationId xmlns="" xmlns:a16="http://schemas.microsoft.com/office/drawing/2014/main" id="{414E966F-D8AB-9546-A849-EF7BD864E601}"/>
              </a:ext>
            </a:extLst>
          </p:cNvPr>
          <p:cNvSpPr txBox="1">
            <a:spLocks/>
          </p:cNvSpPr>
          <p:nvPr/>
        </p:nvSpPr>
        <p:spPr>
          <a:xfrm>
            <a:off x="6563974" y="3295163"/>
            <a:ext cx="11841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t>2</a:t>
            </a:r>
          </a:p>
        </p:txBody>
      </p:sp>
      <p:sp>
        <p:nvSpPr>
          <p:cNvPr id="81" name="Sottotitolo 6">
            <a:extLst>
              <a:ext uri="{FF2B5EF4-FFF2-40B4-BE49-F238E27FC236}">
                <a16:creationId xmlns="" xmlns:a16="http://schemas.microsoft.com/office/drawing/2014/main" id="{0223B70B-DCC2-C04F-9948-4C92D6E2BAC3}"/>
              </a:ext>
            </a:extLst>
          </p:cNvPr>
          <p:cNvSpPr txBox="1">
            <a:spLocks/>
          </p:cNvSpPr>
          <p:nvPr/>
        </p:nvSpPr>
        <p:spPr>
          <a:xfrm>
            <a:off x="6184856" y="3273485"/>
            <a:ext cx="7420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b="1" dirty="0"/>
              <a:t>BES</a:t>
            </a:r>
            <a:r>
              <a:rPr lang="it-IT" dirty="0"/>
              <a:t>: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="" xmlns:a16="http://schemas.microsoft.com/office/drawing/2014/main" id="{9B2832DF-9814-1B49-AC2A-C1D639DAAEE8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21" name="Google Shape;1637;p41">
            <a:extLst>
              <a:ext uri="{FF2B5EF4-FFF2-40B4-BE49-F238E27FC236}">
                <a16:creationId xmlns="" xmlns:a16="http://schemas.microsoft.com/office/drawing/2014/main" id="{68466A1B-BBDB-2147-B519-B10C1E646563}"/>
              </a:ext>
            </a:extLst>
          </p:cNvPr>
          <p:cNvSpPr txBox="1">
            <a:spLocks/>
          </p:cNvSpPr>
          <p:nvPr/>
        </p:nvSpPr>
        <p:spPr>
          <a:xfrm>
            <a:off x="556228" y="3273439"/>
            <a:ext cx="1066973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Indirizzo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2" name="Google Shape;1637;p41">
            <a:extLst>
              <a:ext uri="{FF2B5EF4-FFF2-40B4-BE49-F238E27FC236}">
                <a16:creationId xmlns="" xmlns:a16="http://schemas.microsoft.com/office/drawing/2014/main" id="{64D9E0EF-DEAB-4741-B808-0B870BF29DBB}"/>
              </a:ext>
            </a:extLst>
          </p:cNvPr>
          <p:cNvSpPr txBox="1">
            <a:spLocks/>
          </p:cNvSpPr>
          <p:nvPr/>
        </p:nvSpPr>
        <p:spPr>
          <a:xfrm>
            <a:off x="556227" y="3535328"/>
            <a:ext cx="172364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t>Informatica e Telecomunicazioni</a:t>
            </a:r>
          </a:p>
          <a:p>
            <a:pPr marL="0" indent="0"/>
            <a:endParaRPr lang="it-IT" dirty="0"/>
          </a:p>
          <a:p>
            <a:pPr marL="0" indent="0"/>
            <a:endParaRPr lang="it-IT" dirty="0"/>
          </a:p>
        </p:txBody>
      </p:sp>
      <p:sp>
        <p:nvSpPr>
          <p:cNvPr id="23" name="Google Shape;1637;p41">
            <a:extLst>
              <a:ext uri="{FF2B5EF4-FFF2-40B4-BE49-F238E27FC236}">
                <a16:creationId xmlns="" xmlns:a16="http://schemas.microsoft.com/office/drawing/2014/main" id="{6EA19109-FDED-0C44-B053-21FB38F10AC3}"/>
              </a:ext>
            </a:extLst>
          </p:cNvPr>
          <p:cNvSpPr txBox="1">
            <a:spLocks/>
          </p:cNvSpPr>
          <p:nvPr/>
        </p:nvSpPr>
        <p:spPr>
          <a:xfrm>
            <a:off x="3388370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Articolazione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4" name="Google Shape;1637;p41">
            <a:extLst>
              <a:ext uri="{FF2B5EF4-FFF2-40B4-BE49-F238E27FC236}">
                <a16:creationId xmlns="" xmlns:a16="http://schemas.microsoft.com/office/drawing/2014/main" id="{F7D0C4E5-2509-4142-AE1D-D3E8503EF26B}"/>
              </a:ext>
            </a:extLst>
          </p:cNvPr>
          <p:cNvSpPr txBox="1">
            <a:spLocks/>
          </p:cNvSpPr>
          <p:nvPr/>
        </p:nvSpPr>
        <p:spPr>
          <a:xfrm>
            <a:off x="3388370" y="3273439"/>
            <a:ext cx="170351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Disciplina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5" name="Google Shape;11448;p79">
            <a:extLst>
              <a:ext uri="{FF2B5EF4-FFF2-40B4-BE49-F238E27FC236}">
                <a16:creationId xmlns="" xmlns:a16="http://schemas.microsoft.com/office/drawing/2014/main" id="{53FA65AE-0B2A-0246-BC75-1DDA272CA735}"/>
              </a:ext>
            </a:extLst>
          </p:cNvPr>
          <p:cNvSpPr/>
          <p:nvPr/>
        </p:nvSpPr>
        <p:spPr>
          <a:xfrm>
            <a:off x="3779058" y="1191590"/>
            <a:ext cx="913730" cy="732342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637;p41">
            <a:extLst>
              <a:ext uri="{FF2B5EF4-FFF2-40B4-BE49-F238E27FC236}">
                <a16:creationId xmlns="" xmlns:a16="http://schemas.microsoft.com/office/drawing/2014/main" id="{1EC0C9C0-CAC6-BA42-B74A-275B205BB039}"/>
              </a:ext>
            </a:extLst>
          </p:cNvPr>
          <p:cNvSpPr txBox="1">
            <a:spLocks/>
          </p:cNvSpPr>
          <p:nvPr/>
        </p:nvSpPr>
        <p:spPr>
          <a:xfrm>
            <a:off x="6309263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Classe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7" name="Google Shape;1636;p41">
            <a:extLst>
              <a:ext uri="{FF2B5EF4-FFF2-40B4-BE49-F238E27FC236}">
                <a16:creationId xmlns="" xmlns:a16="http://schemas.microsoft.com/office/drawing/2014/main" id="{F261B2C4-77E4-4244-A52C-57CFBA354AD0}"/>
              </a:ext>
            </a:extLst>
          </p:cNvPr>
          <p:cNvSpPr txBox="1">
            <a:spLocks/>
          </p:cNvSpPr>
          <p:nvPr/>
        </p:nvSpPr>
        <p:spPr>
          <a:xfrm>
            <a:off x="6979288" y="2249638"/>
            <a:ext cx="1315719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t>Classe III</a:t>
            </a:r>
          </a:p>
        </p:txBody>
      </p:sp>
      <p:sp>
        <p:nvSpPr>
          <p:cNvPr id="29" name="Sottotitolo 6">
            <a:extLst>
              <a:ext uri="{FF2B5EF4-FFF2-40B4-BE49-F238E27FC236}">
                <a16:creationId xmlns="" xmlns:a16="http://schemas.microsoft.com/office/drawing/2014/main" id="{91747A41-FB61-AF43-B355-50F1FED615C8}"/>
              </a:ext>
            </a:extLst>
          </p:cNvPr>
          <p:cNvSpPr txBox="1">
            <a:spLocks/>
          </p:cNvSpPr>
          <p:nvPr/>
        </p:nvSpPr>
        <p:spPr>
          <a:xfrm>
            <a:off x="7385354" y="3283348"/>
            <a:ext cx="108473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dirty="0"/>
              <a:t>alunni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Prerequisiti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77040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/>
          <a:p>
            <a:pPr>
              <a:defRPr sz="1100"/>
            </a:pPr>
            <a:r>
              <a:t>• Conoscenza di base dei componenti hardware del computer</a:t>
            </a:r>
          </a:p>
          <a:p>
            <a:pPr>
              <a:defRPr sz="1100"/>
            </a:pPr>
            <a:r>
              <a:t>• Comprensione dei concetti fondamentali di rete</a:t>
            </a:r>
          </a:p>
          <a:p>
            <a:pPr>
              <a:defRPr sz="1100"/>
            </a:pPr>
            <a:r>
              <a:t>• Capacità di lavorare in gruppo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="" xmlns:a16="http://schemas.microsoft.com/office/drawing/2014/main" id="{8AE246BD-8ADB-E341-85CB-AE3D890800D6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  <p:extLst>
      <p:ext uri="{BB962C8B-B14F-4D97-AF65-F5344CB8AC3E}">
        <p14:creationId xmlns="" xmlns:p14="http://schemas.microsoft.com/office/powerpoint/2010/main" val="133365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</a:t>
            </a:r>
            <a:r>
              <a:rPr lang="en" dirty="0" err="1"/>
              <a:t>formativi</a:t>
            </a:r>
            <a:endParaRPr dirty="0"/>
          </a:p>
        </p:txBody>
      </p:sp>
      <p:sp>
        <p:nvSpPr>
          <p:cNvPr id="2124" name="Google Shape;2124;p54"/>
          <p:cNvSpPr txBox="1"/>
          <p:nvPr/>
        </p:nvSpPr>
        <p:spPr>
          <a:xfrm>
            <a:off x="782975" y="1352913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defRPr sz="1100"/>
            </a:pPr>
            <a:r>
              <a:t>• Comprendere il ruolo degli Access Point nelle reti locali</a:t>
            </a:r>
          </a:p>
          <a:p>
            <a:pPr>
              <a:defRPr sz="1100"/>
            </a:pPr>
            <a:r>
              <a:t>• Saper configurare un Access Point per una rete locale</a:t>
            </a:r>
          </a:p>
          <a:p>
            <a:pPr>
              <a:defRPr sz="1100"/>
            </a:pPr>
            <a:r>
              <a:t>• Analizzare le funzionalità e i vantaggi dell'utilizzo di Access Point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="" xmlns:a16="http://schemas.microsoft.com/office/drawing/2014/main" id="{1E1E8E72-BBBA-8E4C-A7C4-D2E8A68D758F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  <p:extLst>
      <p:ext uri="{BB962C8B-B14F-4D97-AF65-F5344CB8AC3E}">
        <p14:creationId xmlns="" xmlns:p14="http://schemas.microsoft.com/office/powerpoint/2010/main" val="186404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di </a:t>
            </a:r>
            <a:r>
              <a:rPr lang="en" dirty="0" err="1"/>
              <a:t>apprendimento</a:t>
            </a:r>
            <a:endParaRPr dirty="0"/>
          </a:p>
        </p:txBody>
      </p:sp>
      <p:sp>
        <p:nvSpPr>
          <p:cNvPr id="2219" name="Google Shape;2219;p58"/>
          <p:cNvSpPr txBox="1">
            <a:spLocks noGrp="1"/>
          </p:cNvSpPr>
          <p:nvPr>
            <p:ph type="subTitle" idx="1"/>
          </p:nvPr>
        </p:nvSpPr>
        <p:spPr>
          <a:xfrm>
            <a:off x="435598" y="2041198"/>
            <a:ext cx="3844800" cy="26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/>
          </a:p>
        </p:txBody>
      </p:sp>
      <p:sp>
        <p:nvSpPr>
          <p:cNvPr id="2220" name="Google Shape;2220;p58"/>
          <p:cNvSpPr txBox="1">
            <a:spLocks noGrp="1"/>
          </p:cNvSpPr>
          <p:nvPr>
            <p:ph type="subTitle" idx="2"/>
          </p:nvPr>
        </p:nvSpPr>
        <p:spPr>
          <a:xfrm>
            <a:off x="4824000" y="2005525"/>
            <a:ext cx="3923423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sz="1200"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271129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Abilità</a:t>
            </a:r>
            <a:r>
              <a:rPr lang="en" dirty="0"/>
              <a:t>/</a:t>
            </a:r>
            <a:r>
              <a:rPr lang="en" dirty="0" err="1"/>
              <a:t>Capacità</a:t>
            </a:r>
            <a:endParaRPr dirty="0"/>
          </a:p>
        </p:txBody>
      </p:sp>
      <p:sp>
        <p:nvSpPr>
          <p:cNvPr id="2222" name="Google Shape;2222;p58"/>
          <p:cNvSpPr txBox="1">
            <a:spLocks noGrp="1"/>
          </p:cNvSpPr>
          <p:nvPr>
            <p:ph type="subTitle" idx="4"/>
          </p:nvPr>
        </p:nvSpPr>
        <p:spPr>
          <a:xfrm>
            <a:off x="5267296" y="1639225"/>
            <a:ext cx="185964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Conoscenze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graphicFrame>
        <p:nvGraphicFramePr>
          <p:cNvPr id="2223" name="Table 2222"/>
          <p:cNvGraphicFramePr>
            <a:graphicFrameLocks noGrp="1"/>
          </p:cNvGraphicFramePr>
          <p:nvPr/>
        </p:nvGraphicFramePr>
        <p:xfrm>
          <a:off x="429768" y="2039112"/>
          <a:ext cx="384048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</a:tblGrid>
              <a:tr h="653796">
                <a:tc>
                  <a:txBody>
                    <a:bodyPr/>
                    <a:lstStyle/>
                    <a:p>
                      <a:r>
                        <a:t>Configurare un Access Point secondo specifiche esigenze</a:t>
                      </a:r>
                    </a:p>
                  </a:txBody>
                  <a:tcPr/>
                </a:tc>
              </a:tr>
              <a:tr h="653796">
                <a:tc>
                  <a:txBody>
                    <a:bodyPr/>
                    <a:lstStyle/>
                    <a:p>
                      <a:r>
                        <a:t>Integrare Access Point all'interno di una rete esistente</a:t>
                      </a:r>
                    </a:p>
                  </a:txBody>
                  <a:tcPr/>
                </a:tc>
              </a:tr>
              <a:tr h="653796">
                <a:tc>
                  <a:txBody>
                    <a:bodyPr/>
                    <a:lstStyle/>
                    <a:p>
                      <a:r>
                        <a:t>Utilizzare strumenti software per la configurazione e gestione di Access Point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24" name="Table 2223"/>
          <p:cNvGraphicFramePr>
            <a:graphicFrameLocks noGrp="1"/>
          </p:cNvGraphicFramePr>
          <p:nvPr/>
        </p:nvGraphicFramePr>
        <p:xfrm>
          <a:off x="4818888" y="2039112"/>
          <a:ext cx="384048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</a:tblGrid>
              <a:tr h="653796">
                <a:tc>
                  <a:txBody>
                    <a:bodyPr/>
                    <a:lstStyle/>
                    <a:p>
                      <a:r>
                        <a:t>Funzionamento degli Access Point nelle reti locali</a:t>
                      </a:r>
                    </a:p>
                  </a:txBody>
                  <a:tcPr/>
                </a:tc>
              </a:tr>
              <a:tr h="653796">
                <a:tc>
                  <a:txBody>
                    <a:bodyPr/>
                    <a:lstStyle/>
                    <a:p>
                      <a:r>
                        <a:t>Protocolli di comunicazione wireless utilizzati dagli Access Point</a:t>
                      </a:r>
                    </a:p>
                  </a:txBody>
                  <a:tcPr/>
                </a:tc>
              </a:tr>
              <a:tr h="653796">
                <a:tc>
                  <a:txBody>
                    <a:bodyPr/>
                    <a:lstStyle/>
                    <a:p>
                      <a:r>
                        <a:t>Strumenti e software per la gestione degli Access Point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5238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546020" y="0"/>
            <a:ext cx="77780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Competenze </a:t>
            </a:r>
            <a:r>
              <a:rPr lang="en" dirty="0" smtClean="0"/>
              <a:t>chiave per l’apprendimento permanente</a:t>
            </a:r>
            <a:endParaRPr dirty="0"/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CasellaDiTesto 17">
            <a:extLst>
              <a:ext uri="{FF2B5EF4-FFF2-40B4-BE49-F238E27FC236}">
                <a16:creationId xmlns="" xmlns:a16="http://schemas.microsoft.com/office/drawing/2014/main" id="{18C6FE95-5955-DE49-97E3-EBF2855EE305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graphicFrame>
        <p:nvGraphicFramePr>
          <p:cNvPr id="16" name="Table 1851"/>
          <p:cNvGraphicFramePr>
            <a:graphicFrameLocks noGrp="1"/>
          </p:cNvGraphicFramePr>
          <p:nvPr/>
        </p:nvGraphicFramePr>
        <p:xfrm>
          <a:off x="248356" y="1385625"/>
          <a:ext cx="8647288" cy="3000601"/>
        </p:xfrm>
        <a:graphic>
          <a:graphicData uri="http://schemas.openxmlformats.org/drawingml/2006/table">
            <a:tbl>
              <a:tblPr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3770488"/>
                <a:gridCol w="4876800"/>
              </a:tblGrid>
              <a:tr h="306508"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Alfabetica funzionale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Per comunicare con gli altri</a:t>
                      </a:r>
                      <a:endParaRPr sz="1200"/>
                    </a:p>
                  </a:txBody>
                  <a:tcPr anchor="ctr"/>
                </a:tc>
              </a:tr>
              <a:tr h="282222">
                <a:tc>
                  <a:txBody>
                    <a:bodyPr/>
                    <a:lstStyle/>
                    <a:p>
                      <a:r>
                        <a:rPr lang="it-IT" sz="1200" b="0" i="0" u="none" strike="noStrike" cap="none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Multilinguistica</a:t>
                      </a: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rafforzare l’identità europea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21920" marR="121920" marT="60960" marB="60960" anchor="ctr"/>
                </a:tc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Matematica, scienza, tecnologia e ingegneria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offrire un contributo al progresso della società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21920" marR="121920" marT="60960" marB="60960" anchor="ctr"/>
                </a:tc>
              </a:tr>
              <a:tr h="417689"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Digitale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partecipare efficacemente a una società e un’economia digitalizzate 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Personale, sociale </a:t>
                      </a:r>
                      <a:r>
                        <a:rPr lang="it-IT" sz="1200" b="0" i="0" u="none" strike="noStrike" cap="none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imparare a </a:t>
                      </a: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imparare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adattarsi alla dinamicità del nostro tempo e vivere serenamente le relazioni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 materia di cittadinanza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agire come cittadini responsabili  e  partecipare pienamente alla vita della  comunità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21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Imprenditoriale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creare valore per gli altri</a:t>
                      </a: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Consapevolezza </a:t>
                      </a:r>
                      <a:r>
                        <a:rPr lang="it-IT" sz="1200" b="0" i="0" u="none" strike="noStrike" cap="none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Espressione culturale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essere Cittadini del mondo, partendo dalle proprie radici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1695494" y="92782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defRPr/>
            </a:pPr>
            <a:r>
              <a:rPr lang="it-IT" dirty="0" smtClean="0"/>
              <a:t>Raccomandazioni del Parlamento Europeo e del Consiglio 2018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324877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23C2"/>
                </a:solidFill>
              </a:defRPr>
            </a:pPr>
            <a:r>
              <a:t>Access Point: Utilizzo e Configurazione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="" xmlns:a16="http://schemas.microsoft.com/office/drawing/2014/main" id="{B4BE4160-CD52-FE40-864F-FD9DC8AC5FFF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esecutiva</a:t>
            </a:r>
            <a:endParaRPr sz="1800" dirty="0"/>
          </a:p>
        </p:txBody>
      </p:sp>
    </p:spTree>
    <p:extLst>
      <p:ext uri="{BB962C8B-B14F-4D97-AF65-F5344CB8AC3E}">
        <p14:creationId xmlns="" xmlns:p14="http://schemas.microsoft.com/office/powerpoint/2010/main" val="285229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9" name="Google Shape;1669;p42"/>
          <p:cNvSpPr txBox="1">
            <a:spLocks noGrp="1"/>
          </p:cNvSpPr>
          <p:nvPr>
            <p:ph type="subTitle" idx="1"/>
          </p:nvPr>
        </p:nvSpPr>
        <p:spPr>
          <a:xfrm>
            <a:off x="440267" y="2044510"/>
            <a:ext cx="30028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>
              <a:defRPr sz="1100"/>
            </a:pPr>
            <a:r>
              <a:t>• Lezione Frontale</a:t>
            </a:r>
          </a:p>
          <a:p>
            <a:pPr>
              <a:defRPr sz="1100"/>
            </a:pPr>
            <a:r>
              <a:t>• Laboratorio pratico</a:t>
            </a:r>
          </a:p>
          <a:p>
            <a:pPr>
              <a:defRPr sz="1100"/>
            </a:pPr>
            <a:r>
              <a:t>• Problem Solving</a:t>
            </a:r>
          </a:p>
          <a:p>
            <a:pPr>
              <a:defRPr sz="1100"/>
            </a:pPr>
            <a:r>
              <a:t>• Cooperative learning</a:t>
            </a:r>
          </a:p>
          <a:p>
            <a:pPr>
              <a:defRPr sz="1100"/>
            </a:pPr>
            <a:r>
              <a:t>• Discussione guidata</a:t>
            </a:r>
          </a:p>
        </p:txBody>
      </p:sp>
      <p:sp>
        <p:nvSpPr>
          <p:cNvPr id="1670" name="Google Shape;1670;p42"/>
          <p:cNvSpPr txBox="1">
            <a:spLocks noGrp="1"/>
          </p:cNvSpPr>
          <p:nvPr>
            <p:ph type="subTitle" idx="2"/>
          </p:nvPr>
        </p:nvSpPr>
        <p:spPr>
          <a:xfrm>
            <a:off x="4149064" y="2102385"/>
            <a:ext cx="44414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>
              <a:defRPr sz="1100"/>
            </a:pPr>
            <a:r>
              <a:t>• Computer e dispositivi di rete</a:t>
            </a:r>
          </a:p>
          <a:p>
            <a:pPr>
              <a:defRPr sz="1100"/>
            </a:pPr>
            <a:r>
              <a:t>• Software di configurazione per Access Point</a:t>
            </a:r>
          </a:p>
          <a:p>
            <a:pPr>
              <a:defRPr sz="1100"/>
            </a:pPr>
            <a:r>
              <a:t>• LIM per la presentazione multimediale</a:t>
            </a:r>
          </a:p>
        </p:txBody>
      </p:sp>
      <p:sp>
        <p:nvSpPr>
          <p:cNvPr id="1672" name="Google Shape;1672;p42"/>
          <p:cNvSpPr txBox="1">
            <a:spLocks noGrp="1"/>
          </p:cNvSpPr>
          <p:nvPr>
            <p:ph type="subTitle" idx="4"/>
          </p:nvPr>
        </p:nvSpPr>
        <p:spPr>
          <a:xfrm>
            <a:off x="863550" y="2044510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Metodologie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3" name="Google Shape;1673;p42"/>
          <p:cNvSpPr txBox="1">
            <a:spLocks noGrp="1"/>
          </p:cNvSpPr>
          <p:nvPr>
            <p:ph type="subTitle" idx="5"/>
          </p:nvPr>
        </p:nvSpPr>
        <p:spPr>
          <a:xfrm>
            <a:off x="4310552" y="1642210"/>
            <a:ext cx="3236782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Sussidiari</a:t>
            </a:r>
            <a:r>
              <a:rPr lang="en" dirty="0"/>
              <a:t> </a:t>
            </a:r>
            <a:r>
              <a:rPr lang="en" dirty="0" err="1"/>
              <a:t>didattici</a:t>
            </a:r>
            <a:endParaRPr dirty="0"/>
          </a:p>
        </p:txBody>
      </p:sp>
      <p:grpSp>
        <p:nvGrpSpPr>
          <p:cNvPr id="1674" name="Google Shape;1674;p42"/>
          <p:cNvGrpSpPr/>
          <p:nvPr/>
        </p:nvGrpSpPr>
        <p:grpSpPr>
          <a:xfrm>
            <a:off x="1606346" y="1175582"/>
            <a:ext cx="341227" cy="302177"/>
            <a:chOff x="713167" y="740543"/>
            <a:chExt cx="476707" cy="422153"/>
          </a:xfrm>
        </p:grpSpPr>
        <p:sp>
          <p:nvSpPr>
            <p:cNvPr id="1675" name="Google Shape;1675;p42"/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42"/>
          <p:cNvGrpSpPr/>
          <p:nvPr/>
        </p:nvGrpSpPr>
        <p:grpSpPr>
          <a:xfrm>
            <a:off x="5197836" y="1201704"/>
            <a:ext cx="341661" cy="290896"/>
            <a:chOff x="2335403" y="748460"/>
            <a:chExt cx="477313" cy="406392"/>
          </a:xfrm>
        </p:grpSpPr>
        <p:sp>
          <p:nvSpPr>
            <p:cNvPr id="1700" name="Google Shape;1700;p42"/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CasellaDiTesto 64">
            <a:extLst>
              <a:ext uri="{FF2B5EF4-FFF2-40B4-BE49-F238E27FC236}">
                <a16:creationId xmlns="" xmlns:a16="http://schemas.microsoft.com/office/drawing/2014/main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  <p:extLst>
      <p:ext uri="{BB962C8B-B14F-4D97-AF65-F5344CB8AC3E}">
        <p14:creationId xmlns="" xmlns:p14="http://schemas.microsoft.com/office/powerpoint/2010/main" val="113560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8" name="Google Shape;1668;p42"/>
          <p:cNvSpPr txBox="1">
            <a:spLocks noGrp="1"/>
          </p:cNvSpPr>
          <p:nvPr>
            <p:ph type="subTitle" idx="6"/>
          </p:nvPr>
        </p:nvSpPr>
        <p:spPr>
          <a:xfrm>
            <a:off x="2856358" y="615425"/>
            <a:ext cx="363328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Adattamento</a:t>
            </a:r>
            <a:r>
              <a:rPr lang="en" dirty="0"/>
              <a:t> per BES</a:t>
            </a:r>
            <a:endParaRPr dirty="0"/>
          </a:p>
        </p:txBody>
      </p:sp>
      <p:sp>
        <p:nvSpPr>
          <p:cNvPr id="1671" name="Google Shape;1671;p42"/>
          <p:cNvSpPr txBox="1">
            <a:spLocks noGrp="1"/>
          </p:cNvSpPr>
          <p:nvPr>
            <p:ph type="subTitle" idx="3"/>
          </p:nvPr>
        </p:nvSpPr>
        <p:spPr>
          <a:xfrm>
            <a:off x="720000" y="1753253"/>
            <a:ext cx="7011889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sz="1100" dirty="0"/>
          </a:p>
          <a:p>
            <a:pPr>
              <a:defRPr sz="1100"/>
            </a:pPr>
            <a:r>
              <a:t>• Verifica orale anziché scritta, utilizzo di materiali semplificati, riduzione dei contenuti da studiare</a:t>
            </a:r>
          </a:p>
        </p:txBody>
      </p:sp>
      <p:sp>
        <p:nvSpPr>
          <p:cNvPr id="64" name="Google Shape;1671;p42">
            <a:extLst>
              <a:ext uri="{FF2B5EF4-FFF2-40B4-BE49-F238E27FC236}">
                <a16:creationId xmlns="" xmlns:a16="http://schemas.microsoft.com/office/drawing/2014/main" id="{7CC43588-6F6F-694E-8FE7-49853C1CFCDA}"/>
              </a:ext>
            </a:extLst>
          </p:cNvPr>
          <p:cNvSpPr txBox="1">
            <a:spLocks/>
          </p:cNvSpPr>
          <p:nvPr/>
        </p:nvSpPr>
        <p:spPr>
          <a:xfrm>
            <a:off x="720000" y="3062348"/>
            <a:ext cx="72086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endParaRPr lang="it-IT" sz="1100" dirty="0"/>
          </a:p>
          <a:p>
            <a:pPr>
              <a:defRPr sz="1100"/>
            </a:pPr>
            <a:r>
              <a:t>• Mappe concettuali, computer con software di supporto, appunti strutturati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="" xmlns:a16="http://schemas.microsoft.com/office/drawing/2014/main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66" name="Google Shape;1671;p42">
            <a:extLst>
              <a:ext uri="{FF2B5EF4-FFF2-40B4-BE49-F238E27FC236}">
                <a16:creationId xmlns="" xmlns:a16="http://schemas.microsoft.com/office/drawing/2014/main" id="{D5E7B5FA-D264-6947-8481-F307401A8609}"/>
              </a:ext>
            </a:extLst>
          </p:cNvPr>
          <p:cNvSpPr txBox="1">
            <a:spLocks/>
          </p:cNvSpPr>
          <p:nvPr/>
        </p:nvSpPr>
        <p:spPr>
          <a:xfrm>
            <a:off x="720000" y="1350953"/>
            <a:ext cx="1811634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Misure </a:t>
            </a:r>
            <a:r>
              <a:rPr lang="it-IT" sz="1100" b="1" dirty="0" smtClean="0"/>
              <a:t>dispensativi:</a:t>
            </a:r>
            <a:endParaRPr lang="it-IT" sz="1100" b="1" dirty="0"/>
          </a:p>
        </p:txBody>
      </p:sp>
      <p:sp>
        <p:nvSpPr>
          <p:cNvPr id="67" name="Google Shape;1671;p42">
            <a:extLst>
              <a:ext uri="{FF2B5EF4-FFF2-40B4-BE49-F238E27FC236}">
                <a16:creationId xmlns="" xmlns:a16="http://schemas.microsoft.com/office/drawing/2014/main" id="{413EE3D2-72CE-9C45-B3A1-73B2ACD1F949}"/>
              </a:ext>
            </a:extLst>
          </p:cNvPr>
          <p:cNvSpPr txBox="1">
            <a:spLocks/>
          </p:cNvSpPr>
          <p:nvPr/>
        </p:nvSpPr>
        <p:spPr>
          <a:xfrm>
            <a:off x="720000" y="2849909"/>
            <a:ext cx="21363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Strumenti </a:t>
            </a:r>
            <a:r>
              <a:rPr lang="it-IT" sz="1100" b="1" dirty="0" smtClean="0"/>
              <a:t>compensative :</a:t>
            </a:r>
            <a:endParaRPr lang="it-IT" sz="1100" b="1" dirty="0"/>
          </a:p>
        </p:txBody>
      </p:sp>
    </p:spTree>
    <p:extLst>
      <p:ext uri="{BB962C8B-B14F-4D97-AF65-F5344CB8AC3E}">
        <p14:creationId xmlns="" xmlns:p14="http://schemas.microsoft.com/office/powerpoint/2010/main" val="113560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54"/>
          <p:cNvSpPr txBox="1"/>
          <p:nvPr/>
        </p:nvSpPr>
        <p:spPr>
          <a:xfrm>
            <a:off x="647783" y="1549663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9" name="Google Shape;2129;p54"/>
          <p:cNvSpPr txBox="1"/>
          <p:nvPr/>
        </p:nvSpPr>
        <p:spPr>
          <a:xfrm>
            <a:off x="636493" y="2337407"/>
            <a:ext cx="1492793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2128;p54">
            <a:extLst>
              <a:ext uri="{FF2B5EF4-FFF2-40B4-BE49-F238E27FC236}">
                <a16:creationId xmlns="" xmlns:a16="http://schemas.microsoft.com/office/drawing/2014/main" id="{261CA5C0-B105-1444-A9BA-58ACF5D7BBB9}"/>
              </a:ext>
            </a:extLst>
          </p:cNvPr>
          <p:cNvSpPr txBox="1"/>
          <p:nvPr/>
        </p:nvSpPr>
        <p:spPr>
          <a:xfrm>
            <a:off x="2031434" y="1558261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" name="Google Shape;2128;p54">
            <a:extLst>
              <a:ext uri="{FF2B5EF4-FFF2-40B4-BE49-F238E27FC236}">
                <a16:creationId xmlns="" xmlns:a16="http://schemas.microsoft.com/office/drawing/2014/main" id="{3B208D90-42FE-E441-9F64-96A53C77C094}"/>
              </a:ext>
            </a:extLst>
          </p:cNvPr>
          <p:cNvSpPr txBox="1"/>
          <p:nvPr/>
        </p:nvSpPr>
        <p:spPr>
          <a:xfrm>
            <a:off x="2057569" y="2320212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Esposizione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argomenti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7" name="Google Shape;2129;p54">
            <a:extLst>
              <a:ext uri="{FF2B5EF4-FFF2-40B4-BE49-F238E27FC236}">
                <a16:creationId xmlns="" xmlns:a16="http://schemas.microsoft.com/office/drawing/2014/main" id="{7CC707D1-874B-E04D-B2C0-2ECA1A36D6B5}"/>
              </a:ext>
            </a:extLst>
          </p:cNvPr>
          <p:cNvSpPr txBox="1"/>
          <p:nvPr/>
        </p:nvSpPr>
        <p:spPr>
          <a:xfrm>
            <a:off x="645459" y="3132105"/>
            <a:ext cx="141211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3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2128;p54">
            <a:extLst>
              <a:ext uri="{FF2B5EF4-FFF2-40B4-BE49-F238E27FC236}">
                <a16:creationId xmlns="" xmlns:a16="http://schemas.microsoft.com/office/drawing/2014/main" id="{06BA9710-5E19-3047-A47A-5CFF07166487}"/>
              </a:ext>
            </a:extLst>
          </p:cNvPr>
          <p:cNvSpPr txBox="1"/>
          <p:nvPr/>
        </p:nvSpPr>
        <p:spPr>
          <a:xfrm>
            <a:off x="2031434" y="3142905"/>
            <a:ext cx="421696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 degli obiettivi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="" xmlns:a16="http://schemas.microsoft.com/office/drawing/2014/main" id="{9463C83D-5DC4-D042-B9A5-94705850EF61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grpSp>
        <p:nvGrpSpPr>
          <p:cNvPr id="62" name="Google Shape;11771;p80">
            <a:extLst>
              <a:ext uri="{FF2B5EF4-FFF2-40B4-BE49-F238E27FC236}">
                <a16:creationId xmlns="" xmlns:a16="http://schemas.microsoft.com/office/drawing/2014/main" id="{44638F95-E680-DF43-BCD4-A0D8CFBE5CF0}"/>
              </a:ext>
            </a:extLst>
          </p:cNvPr>
          <p:cNvGrpSpPr/>
          <p:nvPr/>
        </p:nvGrpSpPr>
        <p:grpSpPr>
          <a:xfrm>
            <a:off x="6729192" y="279401"/>
            <a:ext cx="1429521" cy="1432606"/>
            <a:chOff x="6259175" y="1559008"/>
            <a:chExt cx="271743" cy="272093"/>
          </a:xfrm>
          <a:solidFill>
            <a:schemeClr val="tx2"/>
          </a:solidFill>
        </p:grpSpPr>
        <p:sp>
          <p:nvSpPr>
            <p:cNvPr id="63" name="Google Shape;11772;p80">
              <a:extLst>
                <a:ext uri="{FF2B5EF4-FFF2-40B4-BE49-F238E27FC236}">
                  <a16:creationId xmlns="" xmlns:a16="http://schemas.microsoft.com/office/drawing/2014/main" id="{B588B5C0-0F04-544A-979E-44A254B54977}"/>
                </a:ext>
              </a:extLst>
            </p:cNvPr>
            <p:cNvSpPr/>
            <p:nvPr/>
          </p:nvSpPr>
          <p:spPr>
            <a:xfrm>
              <a:off x="6259175" y="1559008"/>
              <a:ext cx="271743" cy="272093"/>
            </a:xfrm>
            <a:custGeom>
              <a:avLst/>
              <a:gdLst/>
              <a:ahLst/>
              <a:cxnLst/>
              <a:rect l="l" t="t" r="r" b="b"/>
              <a:pathLst>
                <a:path w="8538" h="8549" extrusionOk="0">
                  <a:moveTo>
                    <a:pt x="4263" y="0"/>
                  </a:moveTo>
                  <a:cubicBezTo>
                    <a:pt x="3120" y="0"/>
                    <a:pt x="2049" y="453"/>
                    <a:pt x="1251" y="1250"/>
                  </a:cubicBezTo>
                  <a:cubicBezTo>
                    <a:pt x="441" y="2060"/>
                    <a:pt x="1" y="3131"/>
                    <a:pt x="1" y="4274"/>
                  </a:cubicBezTo>
                  <a:cubicBezTo>
                    <a:pt x="1" y="5417"/>
                    <a:pt x="441" y="6489"/>
                    <a:pt x="1251" y="7299"/>
                  </a:cubicBezTo>
                  <a:cubicBezTo>
                    <a:pt x="2049" y="8096"/>
                    <a:pt x="3120" y="8549"/>
                    <a:pt x="4263" y="8549"/>
                  </a:cubicBezTo>
                  <a:cubicBezTo>
                    <a:pt x="5418" y="8549"/>
                    <a:pt x="6490" y="8096"/>
                    <a:pt x="7287" y="7299"/>
                  </a:cubicBezTo>
                  <a:cubicBezTo>
                    <a:pt x="8097" y="6489"/>
                    <a:pt x="8537" y="5417"/>
                    <a:pt x="8537" y="4274"/>
                  </a:cubicBezTo>
                  <a:cubicBezTo>
                    <a:pt x="8526" y="4179"/>
                    <a:pt x="8526" y="4108"/>
                    <a:pt x="8526" y="4036"/>
                  </a:cubicBezTo>
                  <a:cubicBezTo>
                    <a:pt x="8526" y="3965"/>
                    <a:pt x="8466" y="3917"/>
                    <a:pt x="8383" y="3917"/>
                  </a:cubicBezTo>
                  <a:cubicBezTo>
                    <a:pt x="8311" y="3917"/>
                    <a:pt x="8276" y="3977"/>
                    <a:pt x="8276" y="4048"/>
                  </a:cubicBezTo>
                  <a:lnTo>
                    <a:pt x="8276" y="4274"/>
                  </a:lnTo>
                  <a:cubicBezTo>
                    <a:pt x="8276" y="5346"/>
                    <a:pt x="7859" y="6358"/>
                    <a:pt x="7097" y="7120"/>
                  </a:cubicBezTo>
                  <a:cubicBezTo>
                    <a:pt x="6335" y="7882"/>
                    <a:pt x="5323" y="8287"/>
                    <a:pt x="4251" y="8287"/>
                  </a:cubicBezTo>
                  <a:cubicBezTo>
                    <a:pt x="3180" y="8287"/>
                    <a:pt x="2168" y="7870"/>
                    <a:pt x="1406" y="7120"/>
                  </a:cubicBezTo>
                  <a:cubicBezTo>
                    <a:pt x="656" y="6358"/>
                    <a:pt x="239" y="5346"/>
                    <a:pt x="239" y="4274"/>
                  </a:cubicBezTo>
                  <a:cubicBezTo>
                    <a:pt x="239" y="3203"/>
                    <a:pt x="644" y="2191"/>
                    <a:pt x="1406" y="1429"/>
                  </a:cubicBezTo>
                  <a:cubicBezTo>
                    <a:pt x="2168" y="667"/>
                    <a:pt x="3180" y="250"/>
                    <a:pt x="4251" y="250"/>
                  </a:cubicBezTo>
                  <a:cubicBezTo>
                    <a:pt x="5204" y="250"/>
                    <a:pt x="6121" y="595"/>
                    <a:pt x="6847" y="1203"/>
                  </a:cubicBezTo>
                  <a:cubicBezTo>
                    <a:pt x="7561" y="1822"/>
                    <a:pt x="8049" y="2655"/>
                    <a:pt x="8216" y="3560"/>
                  </a:cubicBezTo>
                  <a:cubicBezTo>
                    <a:pt x="8227" y="3624"/>
                    <a:pt x="8276" y="3669"/>
                    <a:pt x="8337" y="3669"/>
                  </a:cubicBezTo>
                  <a:cubicBezTo>
                    <a:pt x="8344" y="3669"/>
                    <a:pt x="8352" y="3668"/>
                    <a:pt x="8359" y="3667"/>
                  </a:cubicBezTo>
                  <a:cubicBezTo>
                    <a:pt x="8430" y="3643"/>
                    <a:pt x="8478" y="3584"/>
                    <a:pt x="8466" y="3512"/>
                  </a:cubicBezTo>
                  <a:cubicBezTo>
                    <a:pt x="8287" y="2548"/>
                    <a:pt x="7775" y="1655"/>
                    <a:pt x="7025" y="1012"/>
                  </a:cubicBezTo>
                  <a:cubicBezTo>
                    <a:pt x="6251" y="357"/>
                    <a:pt x="5275" y="0"/>
                    <a:pt x="4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773;p80">
              <a:extLst>
                <a:ext uri="{FF2B5EF4-FFF2-40B4-BE49-F238E27FC236}">
                  <a16:creationId xmlns="" xmlns:a16="http://schemas.microsoft.com/office/drawing/2014/main" id="{7270C5A1-9595-514A-8374-873CABF95844}"/>
                </a:ext>
              </a:extLst>
            </p:cNvPr>
            <p:cNvSpPr/>
            <p:nvPr/>
          </p:nvSpPr>
          <p:spPr>
            <a:xfrm>
              <a:off x="6278145" y="1577946"/>
              <a:ext cx="231927" cy="232309"/>
            </a:xfrm>
            <a:custGeom>
              <a:avLst/>
              <a:gdLst/>
              <a:ahLst/>
              <a:cxnLst/>
              <a:rect l="l" t="t" r="r" b="b"/>
              <a:pathLst>
                <a:path w="7287" h="7299" extrusionOk="0">
                  <a:moveTo>
                    <a:pt x="3643" y="0"/>
                  </a:moveTo>
                  <a:cubicBezTo>
                    <a:pt x="3119" y="0"/>
                    <a:pt x="2631" y="108"/>
                    <a:pt x="2155" y="322"/>
                  </a:cubicBezTo>
                  <a:cubicBezTo>
                    <a:pt x="1703" y="524"/>
                    <a:pt x="1310" y="810"/>
                    <a:pt x="964" y="1179"/>
                  </a:cubicBezTo>
                  <a:cubicBezTo>
                    <a:pt x="917" y="1227"/>
                    <a:pt x="917" y="1310"/>
                    <a:pt x="964" y="1358"/>
                  </a:cubicBezTo>
                  <a:cubicBezTo>
                    <a:pt x="988" y="1382"/>
                    <a:pt x="1021" y="1393"/>
                    <a:pt x="1054" y="1393"/>
                  </a:cubicBezTo>
                  <a:cubicBezTo>
                    <a:pt x="1086" y="1393"/>
                    <a:pt x="1119" y="1382"/>
                    <a:pt x="1143" y="1358"/>
                  </a:cubicBezTo>
                  <a:cubicBezTo>
                    <a:pt x="1453" y="1012"/>
                    <a:pt x="1822" y="750"/>
                    <a:pt x="2262" y="560"/>
                  </a:cubicBezTo>
                  <a:cubicBezTo>
                    <a:pt x="2691" y="358"/>
                    <a:pt x="3167" y="262"/>
                    <a:pt x="3643" y="262"/>
                  </a:cubicBezTo>
                  <a:cubicBezTo>
                    <a:pt x="5513" y="262"/>
                    <a:pt x="7037" y="1774"/>
                    <a:pt x="7037" y="3656"/>
                  </a:cubicBezTo>
                  <a:cubicBezTo>
                    <a:pt x="7037" y="5525"/>
                    <a:pt x="5513" y="7049"/>
                    <a:pt x="3643" y="7049"/>
                  </a:cubicBezTo>
                  <a:cubicBezTo>
                    <a:pt x="1762" y="7049"/>
                    <a:pt x="250" y="5525"/>
                    <a:pt x="250" y="3656"/>
                  </a:cubicBezTo>
                  <a:cubicBezTo>
                    <a:pt x="250" y="2977"/>
                    <a:pt x="441" y="2322"/>
                    <a:pt x="810" y="1774"/>
                  </a:cubicBezTo>
                  <a:cubicBezTo>
                    <a:pt x="857" y="1727"/>
                    <a:pt x="845" y="1655"/>
                    <a:pt x="786" y="1608"/>
                  </a:cubicBezTo>
                  <a:cubicBezTo>
                    <a:pt x="766" y="1596"/>
                    <a:pt x="743" y="1591"/>
                    <a:pt x="721" y="1591"/>
                  </a:cubicBezTo>
                  <a:cubicBezTo>
                    <a:pt x="676" y="1591"/>
                    <a:pt x="631" y="1612"/>
                    <a:pt x="607" y="1643"/>
                  </a:cubicBezTo>
                  <a:cubicBezTo>
                    <a:pt x="202" y="2239"/>
                    <a:pt x="0" y="2941"/>
                    <a:pt x="0" y="3656"/>
                  </a:cubicBezTo>
                  <a:cubicBezTo>
                    <a:pt x="0" y="4632"/>
                    <a:pt x="381" y="5537"/>
                    <a:pt x="1072" y="6227"/>
                  </a:cubicBezTo>
                  <a:cubicBezTo>
                    <a:pt x="1750" y="6906"/>
                    <a:pt x="2679" y="7299"/>
                    <a:pt x="3643" y="7299"/>
                  </a:cubicBezTo>
                  <a:cubicBezTo>
                    <a:pt x="4620" y="7299"/>
                    <a:pt x="5536" y="6906"/>
                    <a:pt x="6215" y="6227"/>
                  </a:cubicBezTo>
                  <a:cubicBezTo>
                    <a:pt x="6894" y="5537"/>
                    <a:pt x="7287" y="4620"/>
                    <a:pt x="7287" y="3656"/>
                  </a:cubicBezTo>
                  <a:cubicBezTo>
                    <a:pt x="7287" y="2679"/>
                    <a:pt x="6906" y="1763"/>
                    <a:pt x="6215" y="1072"/>
                  </a:cubicBezTo>
                  <a:cubicBezTo>
                    <a:pt x="5536" y="393"/>
                    <a:pt x="4608" y="0"/>
                    <a:pt x="36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1774;p80">
              <a:extLst>
                <a:ext uri="{FF2B5EF4-FFF2-40B4-BE49-F238E27FC236}">
                  <a16:creationId xmlns="" xmlns:a16="http://schemas.microsoft.com/office/drawing/2014/main" id="{F9DD6277-44F2-E94E-ACF1-F20B57602F17}"/>
                </a:ext>
              </a:extLst>
            </p:cNvPr>
            <p:cNvSpPr/>
            <p:nvPr/>
          </p:nvSpPr>
          <p:spPr>
            <a:xfrm>
              <a:off x="6297846" y="1690870"/>
              <a:ext cx="13272" cy="7607"/>
            </a:xfrm>
            <a:custGeom>
              <a:avLst/>
              <a:gdLst/>
              <a:ahLst/>
              <a:cxnLst/>
              <a:rect l="l" t="t" r="r" b="b"/>
              <a:pathLst>
                <a:path w="417" h="239" extrusionOk="0">
                  <a:moveTo>
                    <a:pt x="119" y="0"/>
                  </a:moveTo>
                  <a:cubicBezTo>
                    <a:pt x="48" y="0"/>
                    <a:pt x="0" y="36"/>
                    <a:pt x="0" y="120"/>
                  </a:cubicBezTo>
                  <a:cubicBezTo>
                    <a:pt x="0" y="191"/>
                    <a:pt x="60" y="239"/>
                    <a:pt x="119" y="239"/>
                  </a:cubicBezTo>
                  <a:lnTo>
                    <a:pt x="298" y="239"/>
                  </a:lnTo>
                  <a:cubicBezTo>
                    <a:pt x="369" y="239"/>
                    <a:pt x="417" y="179"/>
                    <a:pt x="417" y="120"/>
                  </a:cubicBezTo>
                  <a:cubicBezTo>
                    <a:pt x="417" y="60"/>
                    <a:pt x="357" y="0"/>
                    <a:pt x="2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775;p80">
              <a:extLst>
                <a:ext uri="{FF2B5EF4-FFF2-40B4-BE49-F238E27FC236}">
                  <a16:creationId xmlns="" xmlns:a16="http://schemas.microsoft.com/office/drawing/2014/main" id="{F559DB77-38F0-9749-B99B-4BAB7CA7C88C}"/>
                </a:ext>
              </a:extLst>
            </p:cNvPr>
            <p:cNvSpPr/>
            <p:nvPr/>
          </p:nvSpPr>
          <p:spPr>
            <a:xfrm>
              <a:off x="6390687" y="1598029"/>
              <a:ext cx="100448" cy="100448"/>
            </a:xfrm>
            <a:custGeom>
              <a:avLst/>
              <a:gdLst/>
              <a:ahLst/>
              <a:cxnLst/>
              <a:rect l="l" t="t" r="r" b="b"/>
              <a:pathLst>
                <a:path w="3156" h="3156" extrusionOk="0">
                  <a:moveTo>
                    <a:pt x="119" y="0"/>
                  </a:moveTo>
                  <a:cubicBezTo>
                    <a:pt x="60" y="0"/>
                    <a:pt x="0" y="60"/>
                    <a:pt x="0" y="119"/>
                  </a:cubicBezTo>
                  <a:lnTo>
                    <a:pt x="0" y="3037"/>
                  </a:lnTo>
                  <a:cubicBezTo>
                    <a:pt x="0" y="3108"/>
                    <a:pt x="60" y="3156"/>
                    <a:pt x="119" y="3156"/>
                  </a:cubicBezTo>
                  <a:lnTo>
                    <a:pt x="3036" y="3156"/>
                  </a:lnTo>
                  <a:cubicBezTo>
                    <a:pt x="3108" y="3156"/>
                    <a:pt x="3155" y="3096"/>
                    <a:pt x="3155" y="3037"/>
                  </a:cubicBezTo>
                  <a:cubicBezTo>
                    <a:pt x="3155" y="2977"/>
                    <a:pt x="3096" y="2917"/>
                    <a:pt x="3036" y="2917"/>
                  </a:cubicBezTo>
                  <a:lnTo>
                    <a:pt x="250" y="2917"/>
                  </a:lnTo>
                  <a:lnTo>
                    <a:pt x="250" y="119"/>
                  </a:lnTo>
                  <a:lnTo>
                    <a:pt x="238" y="119"/>
                  </a:lnTo>
                  <a:cubicBezTo>
                    <a:pt x="238" y="48"/>
                    <a:pt x="179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1776;p80">
              <a:extLst>
                <a:ext uri="{FF2B5EF4-FFF2-40B4-BE49-F238E27FC236}">
                  <a16:creationId xmlns="" xmlns:a16="http://schemas.microsoft.com/office/drawing/2014/main" id="{7190F392-A6FD-CF49-A9B1-0A8AA63150DC}"/>
                </a:ext>
              </a:extLst>
            </p:cNvPr>
            <p:cNvSpPr/>
            <p:nvPr/>
          </p:nvSpPr>
          <p:spPr>
            <a:xfrm>
              <a:off x="6390305" y="1778013"/>
              <a:ext cx="7607" cy="13304"/>
            </a:xfrm>
            <a:custGeom>
              <a:avLst/>
              <a:gdLst/>
              <a:ahLst/>
              <a:cxnLst/>
              <a:rect l="l" t="t" r="r" b="b"/>
              <a:pathLst>
                <a:path w="239" h="418" extrusionOk="0">
                  <a:moveTo>
                    <a:pt x="119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299"/>
                  </a:lnTo>
                  <a:cubicBezTo>
                    <a:pt x="0" y="370"/>
                    <a:pt x="60" y="418"/>
                    <a:pt x="119" y="418"/>
                  </a:cubicBezTo>
                  <a:cubicBezTo>
                    <a:pt x="179" y="418"/>
                    <a:pt x="238" y="358"/>
                    <a:pt x="238" y="299"/>
                  </a:cubicBezTo>
                  <a:lnTo>
                    <a:pt x="238" y="120"/>
                  </a:lnTo>
                  <a:cubicBezTo>
                    <a:pt x="238" y="49"/>
                    <a:pt x="179" y="1"/>
                    <a:pt x="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1777;p80">
              <a:extLst>
                <a:ext uri="{FF2B5EF4-FFF2-40B4-BE49-F238E27FC236}">
                  <a16:creationId xmlns="" xmlns:a16="http://schemas.microsoft.com/office/drawing/2014/main" id="{DC2C69A4-769D-D54A-AAA2-FD048B35CA11}"/>
                </a:ext>
              </a:extLst>
            </p:cNvPr>
            <p:cNvSpPr/>
            <p:nvPr/>
          </p:nvSpPr>
          <p:spPr>
            <a:xfrm>
              <a:off x="6324358" y="162492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133" y="1"/>
                  </a:moveTo>
                  <a:cubicBezTo>
                    <a:pt x="99" y="1"/>
                    <a:pt x="66" y="13"/>
                    <a:pt x="48" y="36"/>
                  </a:cubicBezTo>
                  <a:cubicBezTo>
                    <a:pt x="1" y="72"/>
                    <a:pt x="1" y="167"/>
                    <a:pt x="48" y="215"/>
                  </a:cubicBezTo>
                  <a:lnTo>
                    <a:pt x="179" y="346"/>
                  </a:lnTo>
                  <a:cubicBezTo>
                    <a:pt x="215" y="370"/>
                    <a:pt x="239" y="370"/>
                    <a:pt x="274" y="370"/>
                  </a:cubicBezTo>
                  <a:cubicBezTo>
                    <a:pt x="298" y="370"/>
                    <a:pt x="334" y="358"/>
                    <a:pt x="358" y="346"/>
                  </a:cubicBezTo>
                  <a:cubicBezTo>
                    <a:pt x="405" y="298"/>
                    <a:pt x="405" y="215"/>
                    <a:pt x="358" y="167"/>
                  </a:cubicBezTo>
                  <a:lnTo>
                    <a:pt x="227" y="36"/>
                  </a:lnTo>
                  <a:cubicBezTo>
                    <a:pt x="203" y="13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1778;p80">
              <a:extLst>
                <a:ext uri="{FF2B5EF4-FFF2-40B4-BE49-F238E27FC236}">
                  <a16:creationId xmlns="" xmlns:a16="http://schemas.microsoft.com/office/drawing/2014/main" id="{574C002A-2D92-8440-9B01-663339B39670}"/>
                </a:ext>
              </a:extLst>
            </p:cNvPr>
            <p:cNvSpPr/>
            <p:nvPr/>
          </p:nvSpPr>
          <p:spPr>
            <a:xfrm>
              <a:off x="6451700" y="1752265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133" y="0"/>
                  </a:moveTo>
                  <a:cubicBezTo>
                    <a:pt x="101" y="0"/>
                    <a:pt x="72" y="12"/>
                    <a:pt x="48" y="36"/>
                  </a:cubicBezTo>
                  <a:cubicBezTo>
                    <a:pt x="0" y="84"/>
                    <a:pt x="0" y="167"/>
                    <a:pt x="48" y="215"/>
                  </a:cubicBezTo>
                  <a:lnTo>
                    <a:pt x="179" y="346"/>
                  </a:lnTo>
                  <a:cubicBezTo>
                    <a:pt x="214" y="369"/>
                    <a:pt x="238" y="369"/>
                    <a:pt x="274" y="369"/>
                  </a:cubicBezTo>
                  <a:cubicBezTo>
                    <a:pt x="298" y="369"/>
                    <a:pt x="333" y="357"/>
                    <a:pt x="357" y="346"/>
                  </a:cubicBezTo>
                  <a:cubicBezTo>
                    <a:pt x="405" y="298"/>
                    <a:pt x="405" y="215"/>
                    <a:pt x="357" y="167"/>
                  </a:cubicBezTo>
                  <a:lnTo>
                    <a:pt x="226" y="36"/>
                  </a:lnTo>
                  <a:cubicBezTo>
                    <a:pt x="197" y="12"/>
                    <a:pt x="164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1779;p80">
              <a:extLst>
                <a:ext uri="{FF2B5EF4-FFF2-40B4-BE49-F238E27FC236}">
                  <a16:creationId xmlns="" xmlns:a16="http://schemas.microsoft.com/office/drawing/2014/main" id="{FF16C571-A6E3-1844-8CA6-59AF15A50ED1}"/>
                </a:ext>
              </a:extLst>
            </p:cNvPr>
            <p:cNvSpPr/>
            <p:nvPr/>
          </p:nvSpPr>
          <p:spPr>
            <a:xfrm>
              <a:off x="6451700" y="1624923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272" y="1"/>
                  </a:moveTo>
                  <a:cubicBezTo>
                    <a:pt x="238" y="1"/>
                    <a:pt x="202" y="13"/>
                    <a:pt x="179" y="36"/>
                  </a:cubicBezTo>
                  <a:lnTo>
                    <a:pt x="48" y="167"/>
                  </a:lnTo>
                  <a:cubicBezTo>
                    <a:pt x="0" y="215"/>
                    <a:pt x="0" y="298"/>
                    <a:pt x="48" y="346"/>
                  </a:cubicBezTo>
                  <a:cubicBezTo>
                    <a:pt x="83" y="370"/>
                    <a:pt x="107" y="370"/>
                    <a:pt x="143" y="370"/>
                  </a:cubicBezTo>
                  <a:cubicBezTo>
                    <a:pt x="167" y="370"/>
                    <a:pt x="202" y="370"/>
                    <a:pt x="226" y="346"/>
                  </a:cubicBezTo>
                  <a:lnTo>
                    <a:pt x="357" y="215"/>
                  </a:lnTo>
                  <a:cubicBezTo>
                    <a:pt x="405" y="167"/>
                    <a:pt x="405" y="72"/>
                    <a:pt x="357" y="36"/>
                  </a:cubicBezTo>
                  <a:cubicBezTo>
                    <a:pt x="339" y="13"/>
                    <a:pt x="307" y="1"/>
                    <a:pt x="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1780;p80">
              <a:extLst>
                <a:ext uri="{FF2B5EF4-FFF2-40B4-BE49-F238E27FC236}">
                  <a16:creationId xmlns="" xmlns:a16="http://schemas.microsoft.com/office/drawing/2014/main" id="{1C931076-73CC-754D-8BA5-3BFBEFD0B1A0}"/>
                </a:ext>
              </a:extLst>
            </p:cNvPr>
            <p:cNvSpPr/>
            <p:nvPr/>
          </p:nvSpPr>
          <p:spPr>
            <a:xfrm>
              <a:off x="6324358" y="175188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268" y="0"/>
                  </a:moveTo>
                  <a:cubicBezTo>
                    <a:pt x="236" y="0"/>
                    <a:pt x="203" y="12"/>
                    <a:pt x="179" y="36"/>
                  </a:cubicBezTo>
                  <a:lnTo>
                    <a:pt x="48" y="167"/>
                  </a:lnTo>
                  <a:cubicBezTo>
                    <a:pt x="1" y="227"/>
                    <a:pt x="1" y="298"/>
                    <a:pt x="48" y="346"/>
                  </a:cubicBezTo>
                  <a:cubicBezTo>
                    <a:pt x="72" y="369"/>
                    <a:pt x="108" y="369"/>
                    <a:pt x="132" y="369"/>
                  </a:cubicBezTo>
                  <a:cubicBezTo>
                    <a:pt x="167" y="369"/>
                    <a:pt x="191" y="358"/>
                    <a:pt x="227" y="346"/>
                  </a:cubicBezTo>
                  <a:lnTo>
                    <a:pt x="358" y="215"/>
                  </a:lnTo>
                  <a:cubicBezTo>
                    <a:pt x="405" y="167"/>
                    <a:pt x="405" y="72"/>
                    <a:pt x="358" y="36"/>
                  </a:cubicBezTo>
                  <a:cubicBezTo>
                    <a:pt x="334" y="12"/>
                    <a:pt x="301" y="0"/>
                    <a:pt x="2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781;p80">
              <a:extLst>
                <a:ext uri="{FF2B5EF4-FFF2-40B4-BE49-F238E27FC236}">
                  <a16:creationId xmlns="" xmlns:a16="http://schemas.microsoft.com/office/drawing/2014/main" id="{F2602617-019D-3541-A631-23761C55C163}"/>
                </a:ext>
              </a:extLst>
            </p:cNvPr>
            <p:cNvSpPr/>
            <p:nvPr/>
          </p:nvSpPr>
          <p:spPr>
            <a:xfrm>
              <a:off x="6304657" y="1653823"/>
              <a:ext cx="14036" cy="10567"/>
            </a:xfrm>
            <a:custGeom>
              <a:avLst/>
              <a:gdLst/>
              <a:ahLst/>
              <a:cxnLst/>
              <a:rect l="l" t="t" r="r" b="b"/>
              <a:pathLst>
                <a:path w="441" h="332" extrusionOk="0">
                  <a:moveTo>
                    <a:pt x="143" y="0"/>
                  </a:moveTo>
                  <a:cubicBezTo>
                    <a:pt x="97" y="0"/>
                    <a:pt x="51" y="25"/>
                    <a:pt x="24" y="69"/>
                  </a:cubicBezTo>
                  <a:cubicBezTo>
                    <a:pt x="0" y="129"/>
                    <a:pt x="24" y="212"/>
                    <a:pt x="84" y="236"/>
                  </a:cubicBezTo>
                  <a:lnTo>
                    <a:pt x="250" y="307"/>
                  </a:lnTo>
                  <a:cubicBezTo>
                    <a:pt x="262" y="307"/>
                    <a:pt x="274" y="331"/>
                    <a:pt x="298" y="331"/>
                  </a:cubicBezTo>
                  <a:cubicBezTo>
                    <a:pt x="334" y="331"/>
                    <a:pt x="381" y="295"/>
                    <a:pt x="417" y="260"/>
                  </a:cubicBezTo>
                  <a:cubicBezTo>
                    <a:pt x="441" y="200"/>
                    <a:pt x="417" y="117"/>
                    <a:pt x="358" y="93"/>
                  </a:cubicBezTo>
                  <a:lnTo>
                    <a:pt x="191" y="10"/>
                  </a:lnTo>
                  <a:cubicBezTo>
                    <a:pt x="176" y="3"/>
                    <a:pt x="159" y="0"/>
                    <a:pt x="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782;p80">
              <a:extLst>
                <a:ext uri="{FF2B5EF4-FFF2-40B4-BE49-F238E27FC236}">
                  <a16:creationId xmlns="" xmlns:a16="http://schemas.microsoft.com/office/drawing/2014/main" id="{B1B08B43-2D28-B549-B533-2E067E356F71}"/>
                </a:ext>
              </a:extLst>
            </p:cNvPr>
            <p:cNvSpPr/>
            <p:nvPr/>
          </p:nvSpPr>
          <p:spPr>
            <a:xfrm>
              <a:off x="6469874" y="1724511"/>
              <a:ext cx="14068" cy="10344"/>
            </a:xfrm>
            <a:custGeom>
              <a:avLst/>
              <a:gdLst/>
              <a:ahLst/>
              <a:cxnLst/>
              <a:rect l="l" t="t" r="r" b="b"/>
              <a:pathLst>
                <a:path w="442" h="325" extrusionOk="0">
                  <a:moveTo>
                    <a:pt x="140" y="1"/>
                  </a:moveTo>
                  <a:cubicBezTo>
                    <a:pt x="95" y="1"/>
                    <a:pt x="50" y="31"/>
                    <a:pt x="24" y="75"/>
                  </a:cubicBezTo>
                  <a:cubicBezTo>
                    <a:pt x="1" y="134"/>
                    <a:pt x="24" y="206"/>
                    <a:pt x="84" y="241"/>
                  </a:cubicBezTo>
                  <a:lnTo>
                    <a:pt x="251" y="313"/>
                  </a:lnTo>
                  <a:cubicBezTo>
                    <a:pt x="263" y="313"/>
                    <a:pt x="286" y="325"/>
                    <a:pt x="298" y="325"/>
                  </a:cubicBezTo>
                  <a:cubicBezTo>
                    <a:pt x="346" y="325"/>
                    <a:pt x="382" y="301"/>
                    <a:pt x="417" y="253"/>
                  </a:cubicBezTo>
                  <a:cubicBezTo>
                    <a:pt x="441" y="194"/>
                    <a:pt x="417" y="122"/>
                    <a:pt x="358" y="86"/>
                  </a:cubicBezTo>
                  <a:lnTo>
                    <a:pt x="191" y="15"/>
                  </a:lnTo>
                  <a:cubicBezTo>
                    <a:pt x="175" y="5"/>
                    <a:pt x="157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783;p80">
              <a:extLst>
                <a:ext uri="{FF2B5EF4-FFF2-40B4-BE49-F238E27FC236}">
                  <a16:creationId xmlns="" xmlns:a16="http://schemas.microsoft.com/office/drawing/2014/main" id="{70FBBEEF-58F9-7D45-8DDA-0F05AD13B43C}"/>
                </a:ext>
              </a:extLst>
            </p:cNvPr>
            <p:cNvSpPr/>
            <p:nvPr/>
          </p:nvSpPr>
          <p:spPr>
            <a:xfrm>
              <a:off x="6424392" y="1605158"/>
              <a:ext cx="11394" cy="13368"/>
            </a:xfrm>
            <a:custGeom>
              <a:avLst/>
              <a:gdLst/>
              <a:ahLst/>
              <a:cxnLst/>
              <a:rect l="l" t="t" r="r" b="b"/>
              <a:pathLst>
                <a:path w="358" h="420" extrusionOk="0">
                  <a:moveTo>
                    <a:pt x="212" y="0"/>
                  </a:moveTo>
                  <a:cubicBezTo>
                    <a:pt x="168" y="0"/>
                    <a:pt x="125" y="31"/>
                    <a:pt x="108" y="74"/>
                  </a:cubicBezTo>
                  <a:lnTo>
                    <a:pt x="25" y="229"/>
                  </a:lnTo>
                  <a:cubicBezTo>
                    <a:pt x="1" y="288"/>
                    <a:pt x="25" y="372"/>
                    <a:pt x="84" y="396"/>
                  </a:cubicBezTo>
                  <a:cubicBezTo>
                    <a:pt x="108" y="419"/>
                    <a:pt x="120" y="419"/>
                    <a:pt x="132" y="419"/>
                  </a:cubicBezTo>
                  <a:cubicBezTo>
                    <a:pt x="179" y="419"/>
                    <a:pt x="215" y="384"/>
                    <a:pt x="251" y="336"/>
                  </a:cubicBezTo>
                  <a:lnTo>
                    <a:pt x="322" y="181"/>
                  </a:lnTo>
                  <a:cubicBezTo>
                    <a:pt x="358" y="122"/>
                    <a:pt x="322" y="38"/>
                    <a:pt x="263" y="15"/>
                  </a:cubicBezTo>
                  <a:cubicBezTo>
                    <a:pt x="246" y="5"/>
                    <a:pt x="229" y="0"/>
                    <a:pt x="2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784;p80">
              <a:extLst>
                <a:ext uri="{FF2B5EF4-FFF2-40B4-BE49-F238E27FC236}">
                  <a16:creationId xmlns="" xmlns:a16="http://schemas.microsoft.com/office/drawing/2014/main" id="{C41C05D3-9EA0-9C44-B011-3328AF4E31E4}"/>
                </a:ext>
              </a:extLst>
            </p:cNvPr>
            <p:cNvSpPr/>
            <p:nvPr/>
          </p:nvSpPr>
          <p:spPr>
            <a:xfrm>
              <a:off x="6353926" y="1770916"/>
              <a:ext cx="11394" cy="13208"/>
            </a:xfrm>
            <a:custGeom>
              <a:avLst/>
              <a:gdLst/>
              <a:ahLst/>
              <a:cxnLst/>
              <a:rect l="l" t="t" r="r" b="b"/>
              <a:pathLst>
                <a:path w="358" h="415" extrusionOk="0">
                  <a:moveTo>
                    <a:pt x="214" y="0"/>
                  </a:moveTo>
                  <a:cubicBezTo>
                    <a:pt x="168" y="0"/>
                    <a:pt x="122" y="25"/>
                    <a:pt x="96" y="69"/>
                  </a:cubicBezTo>
                  <a:lnTo>
                    <a:pt x="24" y="236"/>
                  </a:lnTo>
                  <a:cubicBezTo>
                    <a:pt x="0" y="295"/>
                    <a:pt x="24" y="367"/>
                    <a:pt x="84" y="402"/>
                  </a:cubicBezTo>
                  <a:cubicBezTo>
                    <a:pt x="96" y="402"/>
                    <a:pt x="119" y="414"/>
                    <a:pt x="131" y="414"/>
                  </a:cubicBezTo>
                  <a:cubicBezTo>
                    <a:pt x="179" y="414"/>
                    <a:pt x="215" y="391"/>
                    <a:pt x="250" y="343"/>
                  </a:cubicBezTo>
                  <a:lnTo>
                    <a:pt x="322" y="176"/>
                  </a:lnTo>
                  <a:cubicBezTo>
                    <a:pt x="357" y="117"/>
                    <a:pt x="322" y="45"/>
                    <a:pt x="262" y="10"/>
                  </a:cubicBezTo>
                  <a:cubicBezTo>
                    <a:pt x="247" y="3"/>
                    <a:pt x="231" y="0"/>
                    <a:pt x="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1785;p80">
              <a:extLst>
                <a:ext uri="{FF2B5EF4-FFF2-40B4-BE49-F238E27FC236}">
                  <a16:creationId xmlns="" xmlns:a16="http://schemas.microsoft.com/office/drawing/2014/main" id="{8A91710C-7D7A-554D-AA6C-F6D0CFC189D4}"/>
                </a:ext>
              </a:extLst>
            </p:cNvPr>
            <p:cNvSpPr/>
            <p:nvPr/>
          </p:nvSpPr>
          <p:spPr>
            <a:xfrm>
              <a:off x="6355040" y="1604363"/>
              <a:ext cx="11044" cy="13399"/>
            </a:xfrm>
            <a:custGeom>
              <a:avLst/>
              <a:gdLst/>
              <a:ahLst/>
              <a:cxnLst/>
              <a:rect l="l" t="t" r="r" b="b"/>
              <a:pathLst>
                <a:path w="347" h="421" extrusionOk="0">
                  <a:moveTo>
                    <a:pt x="127" y="1"/>
                  </a:moveTo>
                  <a:cubicBezTo>
                    <a:pt x="116" y="1"/>
                    <a:pt x="106" y="2"/>
                    <a:pt x="96" y="4"/>
                  </a:cubicBezTo>
                  <a:cubicBezTo>
                    <a:pt x="37" y="40"/>
                    <a:pt x="1" y="111"/>
                    <a:pt x="25" y="171"/>
                  </a:cubicBezTo>
                  <a:lnTo>
                    <a:pt x="96" y="337"/>
                  </a:lnTo>
                  <a:cubicBezTo>
                    <a:pt x="120" y="397"/>
                    <a:pt x="168" y="421"/>
                    <a:pt x="215" y="421"/>
                  </a:cubicBezTo>
                  <a:cubicBezTo>
                    <a:pt x="227" y="421"/>
                    <a:pt x="239" y="421"/>
                    <a:pt x="263" y="409"/>
                  </a:cubicBezTo>
                  <a:cubicBezTo>
                    <a:pt x="322" y="373"/>
                    <a:pt x="346" y="301"/>
                    <a:pt x="334" y="242"/>
                  </a:cubicBezTo>
                  <a:lnTo>
                    <a:pt x="263" y="75"/>
                  </a:lnTo>
                  <a:cubicBezTo>
                    <a:pt x="233" y="26"/>
                    <a:pt x="179" y="1"/>
                    <a:pt x="1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786;p80">
              <a:extLst>
                <a:ext uri="{FF2B5EF4-FFF2-40B4-BE49-F238E27FC236}">
                  <a16:creationId xmlns="" xmlns:a16="http://schemas.microsoft.com/office/drawing/2014/main" id="{48D16E7F-5BBF-3C43-A841-348D78F70478}"/>
                </a:ext>
              </a:extLst>
            </p:cNvPr>
            <p:cNvSpPr/>
            <p:nvPr/>
          </p:nvSpPr>
          <p:spPr>
            <a:xfrm>
              <a:off x="6422514" y="1771489"/>
              <a:ext cx="11012" cy="13017"/>
            </a:xfrm>
            <a:custGeom>
              <a:avLst/>
              <a:gdLst/>
              <a:ahLst/>
              <a:cxnLst/>
              <a:rect l="l" t="t" r="r" b="b"/>
              <a:pathLst>
                <a:path w="346" h="409" extrusionOk="0">
                  <a:moveTo>
                    <a:pt x="151" y="1"/>
                  </a:moveTo>
                  <a:cubicBezTo>
                    <a:pt x="130" y="1"/>
                    <a:pt x="107" y="5"/>
                    <a:pt x="84" y="15"/>
                  </a:cubicBezTo>
                  <a:cubicBezTo>
                    <a:pt x="24" y="39"/>
                    <a:pt x="0" y="111"/>
                    <a:pt x="12" y="170"/>
                  </a:cubicBezTo>
                  <a:lnTo>
                    <a:pt x="84" y="337"/>
                  </a:lnTo>
                  <a:cubicBezTo>
                    <a:pt x="107" y="384"/>
                    <a:pt x="143" y="408"/>
                    <a:pt x="203" y="408"/>
                  </a:cubicBezTo>
                  <a:cubicBezTo>
                    <a:pt x="227" y="408"/>
                    <a:pt x="238" y="408"/>
                    <a:pt x="250" y="396"/>
                  </a:cubicBezTo>
                  <a:cubicBezTo>
                    <a:pt x="310" y="373"/>
                    <a:pt x="346" y="289"/>
                    <a:pt x="322" y="230"/>
                  </a:cubicBezTo>
                  <a:lnTo>
                    <a:pt x="250" y="63"/>
                  </a:lnTo>
                  <a:cubicBezTo>
                    <a:pt x="242" y="29"/>
                    <a:pt x="203" y="1"/>
                    <a:pt x="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787;p80">
              <a:extLst>
                <a:ext uri="{FF2B5EF4-FFF2-40B4-BE49-F238E27FC236}">
                  <a16:creationId xmlns="" xmlns:a16="http://schemas.microsoft.com/office/drawing/2014/main" id="{50EE2A3C-E23D-AC49-B386-5627D0D8F527}"/>
                </a:ext>
              </a:extLst>
            </p:cNvPr>
            <p:cNvSpPr/>
            <p:nvPr/>
          </p:nvSpPr>
          <p:spPr>
            <a:xfrm>
              <a:off x="6470637" y="1655541"/>
              <a:ext cx="14036" cy="10726"/>
            </a:xfrm>
            <a:custGeom>
              <a:avLst/>
              <a:gdLst/>
              <a:ahLst/>
              <a:cxnLst/>
              <a:rect l="l" t="t" r="r" b="b"/>
              <a:pathLst>
                <a:path w="441" h="337" extrusionOk="0">
                  <a:moveTo>
                    <a:pt x="293" y="0"/>
                  </a:moveTo>
                  <a:cubicBezTo>
                    <a:pt x="282" y="0"/>
                    <a:pt x="272" y="1"/>
                    <a:pt x="262" y="3"/>
                  </a:cubicBezTo>
                  <a:lnTo>
                    <a:pt x="96" y="75"/>
                  </a:lnTo>
                  <a:cubicBezTo>
                    <a:pt x="36" y="110"/>
                    <a:pt x="0" y="182"/>
                    <a:pt x="24" y="241"/>
                  </a:cubicBezTo>
                  <a:cubicBezTo>
                    <a:pt x="48" y="301"/>
                    <a:pt x="96" y="337"/>
                    <a:pt x="143" y="337"/>
                  </a:cubicBezTo>
                  <a:cubicBezTo>
                    <a:pt x="155" y="337"/>
                    <a:pt x="167" y="337"/>
                    <a:pt x="179" y="313"/>
                  </a:cubicBezTo>
                  <a:lnTo>
                    <a:pt x="346" y="241"/>
                  </a:lnTo>
                  <a:cubicBezTo>
                    <a:pt x="405" y="217"/>
                    <a:pt x="441" y="134"/>
                    <a:pt x="417" y="75"/>
                  </a:cubicBezTo>
                  <a:cubicBezTo>
                    <a:pt x="397" y="25"/>
                    <a:pt x="344" y="0"/>
                    <a:pt x="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788;p80">
              <a:extLst>
                <a:ext uri="{FF2B5EF4-FFF2-40B4-BE49-F238E27FC236}">
                  <a16:creationId xmlns="" xmlns:a16="http://schemas.microsoft.com/office/drawing/2014/main" id="{431EA8C2-26EC-834E-BF71-0917ACFBD48F}"/>
                </a:ext>
              </a:extLst>
            </p:cNvPr>
            <p:cNvSpPr/>
            <p:nvPr/>
          </p:nvSpPr>
          <p:spPr>
            <a:xfrm>
              <a:off x="6303893" y="1723175"/>
              <a:ext cx="13686" cy="10153"/>
            </a:xfrm>
            <a:custGeom>
              <a:avLst/>
              <a:gdLst/>
              <a:ahLst/>
              <a:cxnLst/>
              <a:rect l="l" t="t" r="r" b="b"/>
              <a:pathLst>
                <a:path w="430" h="319" extrusionOk="0">
                  <a:moveTo>
                    <a:pt x="317" y="0"/>
                  </a:moveTo>
                  <a:cubicBezTo>
                    <a:pt x="299" y="0"/>
                    <a:pt x="281" y="3"/>
                    <a:pt x="263" y="9"/>
                  </a:cubicBezTo>
                  <a:lnTo>
                    <a:pt x="96" y="81"/>
                  </a:lnTo>
                  <a:cubicBezTo>
                    <a:pt x="36" y="117"/>
                    <a:pt x="1" y="188"/>
                    <a:pt x="24" y="248"/>
                  </a:cubicBezTo>
                  <a:cubicBezTo>
                    <a:pt x="36" y="295"/>
                    <a:pt x="84" y="319"/>
                    <a:pt x="144" y="319"/>
                  </a:cubicBezTo>
                  <a:cubicBezTo>
                    <a:pt x="155" y="319"/>
                    <a:pt x="167" y="319"/>
                    <a:pt x="179" y="307"/>
                  </a:cubicBezTo>
                  <a:lnTo>
                    <a:pt x="346" y="236"/>
                  </a:lnTo>
                  <a:cubicBezTo>
                    <a:pt x="405" y="200"/>
                    <a:pt x="429" y="128"/>
                    <a:pt x="417" y="69"/>
                  </a:cubicBezTo>
                  <a:cubicBezTo>
                    <a:pt x="409" y="25"/>
                    <a:pt x="367" y="0"/>
                    <a:pt x="3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2128;p54">
            <a:extLst>
              <a:ext uri="{FF2B5EF4-FFF2-40B4-BE49-F238E27FC236}">
                <a16:creationId xmlns="" xmlns:a16="http://schemas.microsoft.com/office/drawing/2014/main" id="{D3EAC12E-B2D3-BA44-980D-5E8E4CFB87C7}"/>
              </a:ext>
            </a:extLst>
          </p:cNvPr>
          <p:cNvSpPr txBox="1"/>
          <p:nvPr/>
        </p:nvSpPr>
        <p:spPr>
          <a:xfrm>
            <a:off x="6729192" y="1650790"/>
            <a:ext cx="139036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Durata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1" name="Google Shape;2126;p54">
            <a:extLst>
              <a:ext uri="{FF2B5EF4-FFF2-40B4-BE49-F238E27FC236}">
                <a16:creationId xmlns="" xmlns:a16="http://schemas.microsoft.com/office/drawing/2014/main" id="{74686D69-CE3D-A347-984F-B261B7CC064B}"/>
              </a:ext>
            </a:extLst>
          </p:cNvPr>
          <p:cNvSpPr txBox="1"/>
          <p:nvPr/>
        </p:nvSpPr>
        <p:spPr>
          <a:xfrm>
            <a:off x="6476386" y="2288648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160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2126;p54">
            <a:extLst>
              <a:ext uri="{FF2B5EF4-FFF2-40B4-BE49-F238E27FC236}">
                <a16:creationId xmlns="" xmlns:a16="http://schemas.microsoft.com/office/drawing/2014/main" id="{8D7483E2-B438-394F-ADED-9DD946114959}"/>
              </a:ext>
            </a:extLst>
          </p:cNvPr>
          <p:cNvSpPr txBox="1"/>
          <p:nvPr/>
        </p:nvSpPr>
        <p:spPr>
          <a:xfrm>
            <a:off x="6436369" y="2560057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minuti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871035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Verifica orale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Oggi effettueremo una verifica orale per valutare la vostra conoscenza sui componenti hardware e sui concetti fondamentali di rete. Vi farò delle domande a cui risponderete uno alla volta. Ricordate che l'obiettivo è capire quanto avete appreso, quindi rispondete con calma e chiarezza.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Esecuzione della verifica orale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Ora iniziamo con le domande. Ricordate che potete chiedere chiarimenti se una domanda non è chiara. Iniziamo con la prima domanda: 'Qual è il ruolo del processore in un computer?'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Conclusione della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Verifica 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Abbiamo concluso la verifica orale. Complimenti a tutti per l'impegno! Ricordate che è importante continuare a studiare e migliorare nelle aree in cui avete trovato più difficoltà. Se avete domande o dubbi, sono a disposizione per ulteriori chiarimenti.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76366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Obiettivi della lezione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7" name="Google Shape;1843;p46">
            <a:extLst>
              <a:ext uri="{FF2B5EF4-FFF2-40B4-BE49-F238E27FC236}">
                <a16:creationId xmlns:a16="http://schemas.microsoft.com/office/drawing/2014/main" xmlns="" id="{BC5769B3-6BDD-FD45-81EF-257B8A5923F2}"/>
              </a:ext>
            </a:extLst>
          </p:cNvPr>
          <p:cNvSpPr txBox="1">
            <a:spLocks/>
          </p:cNvSpPr>
          <p:nvPr/>
        </p:nvSpPr>
        <p:spPr>
          <a:xfrm>
            <a:off x="720000" y="2247369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Abilità/Capacità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:a16="http://schemas.microsoft.com/office/drawing/2014/main" xmlns="" id="{2112E653-D0C7-D644-86C9-037AFC76546B}"/>
              </a:ext>
            </a:extLst>
          </p:cNvPr>
          <p:cNvSpPr txBox="1">
            <a:spLocks/>
          </p:cNvSpPr>
          <p:nvPr/>
        </p:nvSpPr>
        <p:spPr>
          <a:xfrm>
            <a:off x="4815891" y="2268567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Conoscenze</a:t>
            </a:r>
          </a:p>
        </p:txBody>
      </p:sp>
      <p:sp>
        <p:nvSpPr>
          <p:cNvPr id="24" name="Google Shape;2220;p58"/>
          <p:cNvSpPr txBox="1">
            <a:spLocks/>
          </p:cNvSpPr>
          <p:nvPr/>
        </p:nvSpPr>
        <p:spPr>
          <a:xfrm>
            <a:off x="4953601" y="2735556"/>
            <a:ext cx="3401999" cy="190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Tx/>
              <a:defRPr/>
            </a:pPr>
          </a:p>
        </p:txBody>
      </p:sp>
      <p:sp>
        <p:nvSpPr>
          <p:cNvPr id="16" name="Google Shape;2220;p58"/>
          <p:cNvSpPr txBox="1">
            <a:spLocks/>
          </p:cNvSpPr>
          <p:nvPr/>
        </p:nvSpPr>
        <p:spPr>
          <a:xfrm>
            <a:off x="565200" y="2735999"/>
            <a:ext cx="351647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</a:p>
        </p:txBody>
      </p:sp>
      <p:graphicFrame>
        <p:nvGraphicFramePr>
          <p:cNvPr id="1852" name="Table 1851"/>
          <p:cNvGraphicFramePr>
            <a:graphicFrameLocks noGrp="1"/>
          </p:cNvGraphicFramePr>
          <p:nvPr/>
        </p:nvGraphicFramePr>
        <p:xfrm>
          <a:off x="4809744" y="2734056"/>
          <a:ext cx="31638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824"/>
              </a:tblGrid>
              <a:tr h="457200">
                <a:tc>
                  <a:txBody>
                    <a:bodyPr/>
                    <a:lstStyle/>
                    <a:p>
                      <a:r>
                        <a:t>Funzionamento degli Access Point nelle reti locali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Protocolli di comunicazione wireless utilizzati dagli Access Point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Strumenti e software per la gestione degli Access Point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53" name="Table 1852"/>
          <p:cNvGraphicFramePr>
            <a:graphicFrameLocks noGrp="1"/>
          </p:cNvGraphicFramePr>
          <p:nvPr/>
        </p:nvGraphicFramePr>
        <p:xfrm>
          <a:off x="557784" y="2734056"/>
          <a:ext cx="31638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824"/>
              </a:tblGrid>
              <a:tr h="457200">
                <a:tc>
                  <a:txBody>
                    <a:bodyPr/>
                    <a:lstStyle/>
                    <a:p>
                      <a:r>
                        <a:t>Configurare un Access Point secondo specifiche esigenze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Integrare Access Point all'interno di una rete esistente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Utilizzare strumenti software per la configurazione e gestione di Access Point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9217494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Lezione Frontale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sono dispositivi che consentono ai dispositivi wireless di connettersi a una rete cablata. Essi fungono da ponte tra le reti cablate e wireless, permettendo la comunicazione tra i dispositivi. Gli Access Point possono supportare diversi standard di rete e offrono funzioni come la gestione della sicurezza e la configurazione della rete.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esempio comune di Access Point è il router Wi-Fi di casa che collega i dispositivi mobili alla connessione Internet.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Funzionalità degli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Le funzionalità degli Access Point includono la gestione efficiente del traffico di rete, il controllo degli accessi per garantire la sicurezza e la possibilità di configurare vari parametri di rete. Utilizzando più Access Point, è possibile estendere la copertura della rete Wi-Fi in aree più ampie, migliorando la qualità del segnale e la capacità di gestione del traffico.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un ufficio, più Access Point possono essere utilizzati per garantire che ogni angolo dell'edificio abbia una copertura Wi-Fi ottimale.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Vantaggi degli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offrono numerosi vantaggi, come l'aumento della copertura Wi-Fi, la possibilità di gestire centralmente le configurazioni di rete e la scalabilità per adattarsi alle esigenze crescenti di connettività. Inoltre, migliorano l'affidabilità della rete, riducendo i punti di congestione e garantendo una connessione stabile.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una scuola, l'implementazione di Access Point può garantire che ogni aula e corridoio abbia un segnale Wi-Fi forte e affidabile.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Laboratorio pratico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configurazione dell'Access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L'Access Point è un dispositivo fondamentale nelle reti wireless, che permette ai dispositivi di connettersi alla rete. Si devono conoscere i suoi componenti principali e l'interfaccia di configurazione per gestire le impostazioni di rete. Durante la lezione, verranno illustrati i passaggi per accedere all'interfaccia di gestione tramite browser web.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Accedere all'interfaccia di configurazione di un Access Point tramite l'indirizzo IP di default, ad esempio 192.168.1.1, utilizzando un browser web.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Impostazione delle credenziali di accesso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È essenziale modificare le credenziali di accesso predefinite dell'Access Point per evitare accessi non autorizzati. Durante l'esercitazione, verranno mostrate le impostazioni per cambiare nome utente e password, assicurando che siano sicure e facili da ricordare per l'utente.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Passare dalla schermata di login alla sezione delle impostazioni di sicurezza e modificare il nome utente e la password predefiniti in 'admin' e 'password1234'.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Configurazione delle impostazioni di rete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Per ottimizzare le prestazioni della rete wireless, è fondamentale configurare correttamente l'SSID e il canale di trasmissione. Durante il laboratorio, si vedrà come impostare un SSID univoco e selezionare il canale migliore per ridurre le interferenze. Verrà inoltre configurata la crittografia WPA2 per proteggere la rete da accessi non autorizzati.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Impostare l'SSID su 'ReteScuola', selezionare il canale 6 e abilitare la crittografia WPA2 con una password sicura.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Verifica della connessione e risoluzione dei problemi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la configurazione, è importante testare la connessione wireless per assicurarsi che funzioni correttamente. In caso di problemi, si devono diagnosticare e risolvere le cause, come errori di configurazione o interferenze. Si useranno strumenti di diagnostica, come il comando ping, per verificare la connettività.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Utilizzare un computer per connettersi alla rete 'ReteScuola' e eseguire il ping dell'Access Point per verificare la connessione.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Problem Solving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Identificazione del problema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buon problem solving inizia sempre con l'identificazione accurata del problema. In questo esercizio, sarete chiamati a esaminare uno scenario di rete in cui un Access Point non funziona correttamente. Prestate attenzione ai dettagli forniti nel caso di studio e cercate di individuare i sintomi principali, come errori di connessione, lentezza nella rete o mancata rilevazione del dispositivo.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Scenario: Un nuovo Access Point è stato installato, ma i dispositivi nelle vicinanze non riescono a connettersi alla rete Wi-Fi. Gli studenti devono verificare se l'Access Point è correttamente alimentato, se il SSID è correttamente configurato e visibile, e se le impostazioni di sicurezza sono appropriate.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Analisi delle cause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Una volta identificati i sintomi del problema, è fondamentale analizzare le possibili cause. Discuteremo insieme quali potrebbero essere i motivi alla base del malfunzionamento dell'Access Point. Considerate se le impostazioni sono state configurate correttamente, se l'hardware è integro e se potrebbero esserci interferenze o errori nel software.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potrebbero ipotizzare che il problema sia causato da interferenze con altre reti Wi-Fi, un firmware obsoleto sull'Access Point o un errore nella configurazione delle impostazioni di sicurezza.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Pianificazione delle soluzioni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aver analizzato le cause, è il momento di pianificare le soluzioni. Dovrete scegliere l'approccio migliore per risolvere il problema e delineare i passaggi chiave per implementare la vostra soluzione. Utilizzate il modulo di pianificazione per organizzare le vostre idee in modo chiaro e logico.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potrebbero decidere di aggiornare il firmware dell'Access Point, modificare il canale Wi-Fi per ridurre le interferenze, e rivedere le impostazioni di sicurezza per garantire una connessione stabile.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Implementazione e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È arrivato il momento di mettere in atto il vostro piano. Seguite i passaggi che avete pianificato e verificate attentamente se il problema è stato risolto. Documentate tutto il processo, inclusi i risultati ottenuti e eventuali difficoltà incontrate, utilizzando il template fornito.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l'aggiornamento del firmware e la modifica delle impostazioni di rete, gli studenti verificano che il problema di connessione è stato risolto. Annotano i passaggi seguiti e i risultati nel loro report finale.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Cooperative learning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Formazione dei gruppi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Per iniziare, si formano i gruppi di lavoro. Ogni gruppo dovrebbe essere composto da 3-4 studenti, selezionati per bilanciare diverse competenze e promuovere la collaborazione. Considerare le abilità tecniche e la capacità di lavoro in team per creare gruppi efficaci.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Gruppo 1: Mario, Luca, Anna; Gruppo 2: Sara, Giovanni, Elisa.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Assegnazione dei ruoli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Assegnate ruoli specifici a ogni membro del gruppo, come leader, responsabile delle note, tecnico e presentatore. Questo aiuta a organizzare il lavoro e assicura che tutti contribuiscano al progetto.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Nel Gruppo 1, Mario è il leader, Luca è il tecnico, e Anna è la presentatrice.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Svolgimento dell'attività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 gruppi iniziano la configurazione dell'Access Point utilizzando un software di simulazione. Collaborano per risolvere problemi e verificare il funzionamento. Ogni membro contribuisce secondo il proprio ruolo, promuovendo il lavoro di squadra.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Il gruppo simula la configurazione di un Access Point, risolvendo problemi di connettività e testando la rete.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Riflessione e feedback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Alla fine dell'attività, riflettete sul lavoro di gruppo e condividete i feedback con gli altri. Questo offre l'opportunità di migliorare la collaborazione e identificare aree di miglioramento.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Ogni gruppo presenta le proprie conclusioni e riceve feedback dagli altri gruppi e dal docente.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Discussione guidata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discussione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giocano un ruolo cruciale nelle reti locali, estendendo la connettività wireless e migliorando la copertura. Discutiamo insieme dei loro vantaggi come la scalabilità e le sfide come la sicurezza e la gestione della rete. Preparate alcune domande o pensieri da condividere con il gruppo.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Ad esempio, potete pensare a come gli Access Point potrebbero migliorare la connettività nella vostra scuola o quali problemi potrebbero sorgere in un ambiente molto affollato.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Discussione in piccoli gruppi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Ora, divisi in piccoli gruppi, discutete dei vantaggi e delle sfide presentate dagli Access Point. Nominate un portavoce che riporterà le vostre conclusioni alla classe.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gruppi, riflettete su come gli Access Point potrebbero permettere la connessione in aree scolastiche meno coperte e discutete possibili soluzioni per minimizzare i rischi di sicurezza.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Condivisione e sintesi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Invitiamo ora i portavoce dei gruppi a condividere le conclusioni delle loro discussioni. Presteremo attenzione ai diversi punti di vista emersi e lavoreremo insieme per sintetizzare le idee principali.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gruppo potrebbe evidenziare il problema della sicurezza, mentre un altro potrebbe suggerire soluzioni innovative per migliorare la copertura. Questi spunti verranno poi discussi e sintetizzati in classe.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Conclusione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Concludiamo la nostra discussione ringraziandovi per le idee condivise. Vi invitiamo a pensare a come potreste applicare queste idee nella vostra esperienza quotidiana e quali nuove soluzioni potreste proporre in futuro.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possono riflettere su come gli Access Point potrebbero essere utilizzati in progetti futuri o in quali contesti potrebbero migliorare la loro esperienza di rete.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842;p46">
            <a:extLst>
              <a:ext uri="{FF2B5EF4-FFF2-40B4-BE49-F238E27FC236}">
                <a16:creationId xmlns:a16="http://schemas.microsoft.com/office/drawing/2014/main" id="{2D650376-B8C4-444D-B305-F6037199A00F}"/>
              </a:ext>
            </a:extLst>
          </p:cNvPr>
          <p:cNvSpPr txBox="1">
            <a:spLocks/>
          </p:cNvSpPr>
          <p:nvPr/>
        </p:nvSpPr>
        <p:spPr>
          <a:xfrm>
            <a:off x="720000" y="305041"/>
            <a:ext cx="6439625" cy="583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it-IT" dirty="0"/>
              <a:t>RIEPILOGO ATTIVITÀ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406098" y="769595"/>
            <a:ext cx="8217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defRPr/>
            </a:pPr>
            <a:endParaRPr lang="it-IT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852" name="Table 1851"/>
          <p:cNvGraphicFramePr>
            <a:graphicFrameLocks noGrp="1"/>
          </p:cNvGraphicFramePr>
          <p:nvPr/>
        </p:nvGraphicFramePr>
        <p:xfrm>
          <a:off x="228600" y="1188720"/>
          <a:ext cx="8686800" cy="3559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3657600"/>
              </a:tblGrid>
              <a:tr h="429768">
                <a:tc>
                  <a:txBody>
                    <a:bodyPr/>
                    <a:lstStyle/>
                    <a:p>
                      <a:r>
                        <a:t>Attività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Durata/Setting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Adattamento BES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orale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Verifica orale anziché scritta per BES, utilizzo di domande semplificate.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Lezione Frontale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Utilizzo di materiali semplificati per BES, mappe concettuali.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Laboratorio pratico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Supporto aggiuntivo da parte del docente per BES, software di supporto.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Mappe concettuali e appunti strutturati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Cooperative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minuti /Laboratorio di 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Supporto da parte del docente e divisione dei compiti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Discussione guidata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Discussione semplificata per BES, utilizzo di mappe concettuali.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scritta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Tempi aggiuntivi e verifica orale anziché scritta per BES.</a:t>
                      </a:r>
                    </a:p>
                  </a:txBody>
                  <a:tcPr/>
                </a:tc>
              </a:tr>
              <a:tr h="391160">
                <a:tc>
                  <a:txBody>
                    <a:bodyPr/>
                    <a:lstStyle/>
                    <a:p>
                      <a:r>
                        <a:t>Verifica orale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minuti /Aula con 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Domande semplificate e supporto visivo per BES.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23C2"/>
                </a:solidFill>
              </a:defRPr>
            </a:pPr>
            <a:r>
              <a:t>Access Point: Utilizzo e Configurazione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conclusiva</a:t>
            </a:r>
            <a:endParaRPr sz="1800" dirty="0"/>
          </a:p>
        </p:txBody>
      </p:sp>
      <p:sp>
        <p:nvSpPr>
          <p:cNvPr id="47" name="CasellaDiTesto 46">
            <a:extLst>
              <a:ext uri="{FF2B5EF4-FFF2-40B4-BE49-F238E27FC236}">
                <a16:creationId xmlns="" xmlns:a16="http://schemas.microsoft.com/office/drawing/2014/main" id="{32C83A88-CE58-6B43-B8A8-884F1A1B0C4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  <p:extLst>
      <p:ext uri="{BB962C8B-B14F-4D97-AF65-F5344CB8AC3E}">
        <p14:creationId xmlns="" xmlns:p14="http://schemas.microsoft.com/office/powerpoint/2010/main" val="3930906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19999" y="596900"/>
            <a:ext cx="7806483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 degli obiettivi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="" xmlns:a16="http://schemas.microsoft.com/office/drawing/2014/main" id="{20CD1182-BEDF-7448-94C4-55314EBEF0D9}"/>
              </a:ext>
            </a:extLst>
          </p:cNvPr>
          <p:cNvSpPr txBox="1">
            <a:spLocks/>
          </p:cNvSpPr>
          <p:nvPr/>
        </p:nvSpPr>
        <p:spPr>
          <a:xfrm>
            <a:off x="630985" y="2145395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Verifica orale:</a:t>
            </a:r>
            <a:endParaRPr lang="it-IT" dirty="0"/>
          </a:p>
        </p:txBody>
      </p:sp>
      <p:sp>
        <p:nvSpPr>
          <p:cNvPr id="19" name="Google Shape;1843;p46">
            <a:extLst>
              <a:ext uri="{FF2B5EF4-FFF2-40B4-BE49-F238E27FC236}">
                <a16:creationId xmlns="" xmlns:a16="http://schemas.microsoft.com/office/drawing/2014/main" id="{A2A2C26F-58A3-4F42-A9E2-2A9310CB204A}"/>
              </a:ext>
            </a:extLst>
          </p:cNvPr>
          <p:cNvSpPr txBox="1">
            <a:spLocks/>
          </p:cNvSpPr>
          <p:nvPr/>
        </p:nvSpPr>
        <p:spPr>
          <a:xfrm>
            <a:off x="5647516" y="2051903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 smtClean="0"/>
              <a:t>Verifica </a:t>
            </a:r>
            <a:r>
              <a:rPr lang="it-IT" b="1" dirty="0"/>
              <a:t>scritta:</a:t>
            </a:r>
            <a:endParaRPr lang="it-IT" dirty="0"/>
          </a:p>
        </p:txBody>
      </p:sp>
      <p:sp>
        <p:nvSpPr>
          <p:cNvPr id="20" name="Google Shape;2220;p58"/>
          <p:cNvSpPr txBox="1">
            <a:spLocks/>
          </p:cNvSpPr>
          <p:nvPr/>
        </p:nvSpPr>
        <p:spPr>
          <a:xfrm>
            <a:off x="72000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</a:p>
          <a:p>
            <a:pPr>
              <a:defRPr sz="1100"/>
            </a:pPr>
            <a:r>
              <a:t>• Interrogazioni, interventi o discussione in classe</a:t>
            </a:r>
          </a:p>
        </p:txBody>
      </p:sp>
      <p:sp>
        <p:nvSpPr>
          <p:cNvPr id="23" name="Google Shape;2220;p58"/>
          <p:cNvSpPr txBox="1">
            <a:spLocks/>
          </p:cNvSpPr>
          <p:nvPr/>
        </p:nvSpPr>
        <p:spPr>
          <a:xfrm>
            <a:off x="519312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</a:p>
          <a:p>
            <a:pPr>
              <a:defRPr sz="1100"/>
            </a:pPr>
            <a:r>
              <a:t>• Strutturata, semi-strutturata o aperta</a:t>
            </a:r>
          </a:p>
        </p:txBody>
      </p:sp>
    </p:spTree>
    <p:extLst>
      <p:ext uri="{BB962C8B-B14F-4D97-AF65-F5344CB8AC3E}">
        <p14:creationId xmlns="" xmlns:p14="http://schemas.microsoft.com/office/powerpoint/2010/main" val="6151785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43600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</a:t>
            </a:r>
            <a:endParaRPr dirty="0"/>
          </a:p>
        </p:txBody>
      </p:sp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88728949-49B6-324B-8578-DF22116CE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964" y="1572974"/>
            <a:ext cx="2522071" cy="2522071"/>
          </a:xfrm>
          <a:prstGeom prst="rect">
            <a:avLst/>
          </a:prstGeom>
        </p:spPr>
      </p:pic>
      <p:sp>
        <p:nvSpPr>
          <p:cNvPr id="18" name="Google Shape;1843;p46">
            <a:extLst>
              <a:ext uri="{FF2B5EF4-FFF2-40B4-BE49-F238E27FC236}">
                <a16:creationId xmlns="" xmlns:a16="http://schemas.microsoft.com/office/drawing/2014/main" id="{43ACB5F7-6EE7-CB44-990E-F5B89B29474B}"/>
              </a:ext>
            </a:extLst>
          </p:cNvPr>
          <p:cNvSpPr txBox="1">
            <a:spLocks/>
          </p:cNvSpPr>
          <p:nvPr/>
        </p:nvSpPr>
        <p:spPr>
          <a:xfrm>
            <a:off x="720000" y="2121187"/>
            <a:ext cx="233825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dirty="0"/>
              <a:t>Aprire il questionario</a:t>
            </a:r>
          </a:p>
        </p:txBody>
      </p:sp>
    </p:spTree>
    <p:extLst>
      <p:ext uri="{BB962C8B-B14F-4D97-AF65-F5344CB8AC3E}">
        <p14:creationId xmlns="" xmlns:p14="http://schemas.microsoft.com/office/powerpoint/2010/main" val="3831522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97700" y="294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Griglia</a:t>
            </a:r>
            <a:r>
              <a:rPr lang="en" dirty="0"/>
              <a:t> </a:t>
            </a:r>
            <a:r>
              <a:rPr lang="en" dirty="0" err="1"/>
              <a:t>valutativa</a:t>
            </a:r>
            <a:endParaRPr dirty="0"/>
          </a:p>
        </p:txBody>
      </p:sp>
      <p:grpSp>
        <p:nvGrpSpPr>
          <p:cNvPr id="2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3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11D712EC-A1AD-5F4D-99CE-A5664862E934}"/>
              </a:ext>
            </a:extLst>
          </p:cNvPr>
          <p:cNvSpPr txBox="1"/>
          <p:nvPr/>
        </p:nvSpPr>
        <p:spPr>
          <a:xfrm>
            <a:off x="303586" y="1007108"/>
            <a:ext cx="8317900" cy="57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</a:p>
        </p:txBody>
      </p:sp>
      <p:graphicFrame>
        <p:nvGraphicFramePr>
          <p:cNvPr id="1542" name="Table 1541"/>
          <p:cNvGraphicFramePr>
            <a:graphicFrameLocks noGrp="1"/>
          </p:cNvGraphicFramePr>
          <p:nvPr/>
        </p:nvGraphicFramePr>
        <p:xfrm>
          <a:off x="228600" y="1188720"/>
          <a:ext cx="8686800" cy="3070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3657600"/>
              </a:tblGrid>
              <a:tr h="429768">
                <a:tc>
                  <a:txBody>
                    <a:bodyPr/>
                    <a:lstStyle/>
                    <a:p>
                      <a:r>
                        <a:t>Competenza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Indicatore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Livello</a:t>
                      </a:r>
                    </a:p>
                  </a:txBody>
                  <a:tcPr/>
                </a:tc>
              </a:tr>
              <a:tr h="880110">
                <a:tc>
                  <a:txBody>
                    <a:bodyPr/>
                    <a:lstStyle/>
                    <a:p>
                      <a:r>
                        <a:t>Configurare dispositivi di 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Capacità di configurare un Access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Avanzato: Configura autonomamente un Access Point complesso, Intermedio: Configura un Access Point con supporto parziale, Base: Configura un Access Point con supporto completo</a:t>
                      </a:r>
                    </a:p>
                  </a:txBody>
                  <a:tcPr/>
                </a:tc>
              </a:tr>
              <a:tr h="880110">
                <a:tc>
                  <a:txBody>
                    <a:bodyPr/>
                    <a:lstStyle/>
                    <a:p>
                      <a:r>
                        <a:t>Collaborare in gruppo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Capacità di lavorare efficacemente in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Avanzato: Contribuisce attivamente e guida il gruppo, Intermedio: Contribuisce positivamente al lavoro del gruppo, Base: Partecipa alle attività di gruppo con supporto</a:t>
                      </a:r>
                    </a:p>
                  </a:txBody>
                  <a:tcPr/>
                </a:tc>
              </a:tr>
              <a:tr h="880110">
                <a:tc>
                  <a:txBody>
                    <a:bodyPr/>
                    <a:lstStyle/>
                    <a:p>
                      <a:r>
                        <a:t>Risolvere problemi tecnici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Capacità di identificare e risolvere problemi di configurazione degli Access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Avanzato: Risolve problemi complessi in autonomia, Intermedio: Risolve problemi con supporto, Base: Identifica problemi con supporto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1140574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Autovalutazione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2470068"/>
            <a:ext cx="401315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Compilate il diario di autovalutazione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pic>
        <p:nvPicPr>
          <p:cNvPr id="2052" name="Picture 4" descr="C:\Users\Acer\Downloads\autoVa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2867" y="934501"/>
            <a:ext cx="3071133" cy="3071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8523839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49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Grazie</a:t>
            </a:r>
            <a:r>
              <a:rPr lang="en" dirty="0"/>
              <a:t> </a:t>
            </a:r>
            <a:r>
              <a:rPr lang="en" dirty="0" err="1"/>
              <a:t>dell’attenzione</a:t>
            </a:r>
            <a:endParaRPr dirty="0"/>
          </a:p>
        </p:txBody>
      </p:sp>
      <p:grpSp>
        <p:nvGrpSpPr>
          <p:cNvPr id="1951" name="Google Shape;1951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952" name="Google Shape;1952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3" name="Google Shape;1953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954" name="Google Shape;1954;p49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9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9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7" name="Google Shape;1957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58" name="Google Shape;1958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0" name="Google Shape;1960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1" name="Google Shape;1961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3" name="Google Shape;1963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4" name="Google Shape;1964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6" name="Google Shape;1966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7" name="Google Shape;196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9" name="Google Shape;1969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70" name="Google Shape;197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972" name="Google Shape;1972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973" name="Google Shape;1973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4" name="Google Shape;1974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975" name="Google Shape;1975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976" name="Google Shape;1976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78" name="Google Shape;1978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79" name="Google Shape;1979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1" name="Google Shape;1981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82" name="Google Shape;1982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83" name="Google Shape;198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84" name="Google Shape;198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85" name="Google Shape;198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86" name="Google Shape;198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7" name="Google Shape;198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8" name="Google Shape;198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9" name="Google Shape;198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0" name="Google Shape;199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91" name="Google Shape;199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2" name="Google Shape;1992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93" name="Google Shape;199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94" name="Google Shape;199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95" name="Google Shape;199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96" name="Google Shape;199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7" name="Google Shape;199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8" name="Google Shape;199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9" name="Google Shape;199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0" name="Google Shape;200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01" name="Google Shape;200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2" name="Google Shape;2002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03" name="Google Shape;200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04" name="Google Shape;200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005" name="Google Shape;200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06" name="Google Shape;200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7" name="Google Shape;200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8" name="Google Shape;200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9" name="Google Shape;200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10" name="Google Shape;201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11" name="Google Shape;201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2" name="Google Shape;2012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13" name="Google Shape;2013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15" name="Google Shape;2015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16" name="Google Shape;2016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CasellaDiTesto 69">
            <a:extLst>
              <a:ext uri="{FF2B5EF4-FFF2-40B4-BE49-F238E27FC236}">
                <a16:creationId xmlns="" xmlns:a16="http://schemas.microsoft.com/office/drawing/2014/main" id="{57F97D3C-F768-4F44-88E7-26158C7E6C80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</p:spTree>
    <p:extLst>
      <p:ext uri="{BB962C8B-B14F-4D97-AF65-F5344CB8AC3E}">
        <p14:creationId xmlns="" xmlns:p14="http://schemas.microsoft.com/office/powerpoint/2010/main" val="100494717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377</Words>
  <Application>Microsoft Macintosh PowerPoint</Application>
  <PresentationFormat>Presentazione su schermo (16:9)</PresentationFormat>
  <Paragraphs>123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</vt:lpstr>
      <vt:lpstr>Poppins</vt:lpstr>
      <vt:lpstr>IBM Plex Mono</vt:lpstr>
      <vt:lpstr>Source Code Pro</vt:lpstr>
      <vt:lpstr>Tahoma</vt:lpstr>
      <vt:lpstr>Open Sans</vt:lpstr>
      <vt:lpstr>Introduction to Coding Workshop by Slidesgo</vt:lpstr>
      <vt:lpstr>&lt;#titolo_lezione#&gt;</vt:lpstr>
      <vt:lpstr>Agenda</vt:lpstr>
      <vt:lpstr>01 </vt:lpstr>
      <vt:lpstr>Destinatari</vt:lpstr>
      <vt:lpstr>Prerequisiti</vt:lpstr>
      <vt:lpstr>Obiettivi formativi</vt:lpstr>
      <vt:lpstr>Obiettivi di apprendimento</vt:lpstr>
      <vt:lpstr>Competenze chiave per l’apprendimento permanente</vt:lpstr>
      <vt:lpstr>02</vt:lpstr>
      <vt:lpstr>Metodo</vt:lpstr>
      <vt:lpstr>Metodo</vt:lpstr>
      <vt:lpstr>Diapositiva 12</vt:lpstr>
      <vt:lpstr>Diapositiva 13</vt:lpstr>
      <vt:lpstr>Obiettivi della lezione</vt:lpstr>
      <vt:lpstr>Diapositiva 15</vt:lpstr>
      <vt:lpstr>Diapositiva 16</vt:lpstr>
      <vt:lpstr>03</vt:lpstr>
      <vt:lpstr>Diapositiva 18</vt:lpstr>
      <vt:lpstr>Fase 3: Verifica degli obiettivi</vt:lpstr>
      <vt:lpstr>Fase 3: Verifica</vt:lpstr>
      <vt:lpstr>Griglia valutativa</vt:lpstr>
      <vt:lpstr>Autovalutazione</vt:lpstr>
      <vt:lpstr>Grazie dell’attenzione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183</cp:revision>
  <dcterms:modified xsi:type="dcterms:W3CDTF">2025-08-27T14:57:19Z</dcterms:modified>
</cp:coreProperties>
</file>